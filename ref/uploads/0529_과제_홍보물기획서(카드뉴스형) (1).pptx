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8" roundtripDataSignature="AMtx7mi55cdjUoU+WR3/N41kBofpdlNBZ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18" Type="http://customschemas.google.com/relationships/presentationmetadata" Target="meta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" name="Google Shape;10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0" name="Google Shape;60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1" name="Google Shape;61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6" name="Google Shape;76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7" name="Google Shape;77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2" name="Google Shape;92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3" name="Google Shape;93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9" name="Google Shape;109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0" name="Google Shape;110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6" name="Google Shape;126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7" name="Google Shape;127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3" name="Google Shape;143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4" name="Google Shape;144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0" name="Google Shape;160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1" name="Google Shape;161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7" name="Google Shape;177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78" name="Google Shape;178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4" name="Google Shape;194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95" name="Google Shape;195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1" name="Google Shape;211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12" name="Google Shape;212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eb8211296a_1_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2" name="Google Shape;222;g3eb8211296a_1_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23" name="Google Shape;223;g3eb8211296a_1_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eb8211296a_1_3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9" name="Google Shape;239;g3eb8211296a_1_3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40" name="Google Shape;240;g3eb8211296a_1_3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"/>
          <p:cNvSpPr/>
          <p:nvPr/>
        </p:nvSpPr>
        <p:spPr>
          <a:xfrm>
            <a:off x="457200" y="502920"/>
            <a:ext cx="118872" cy="411480"/>
          </a:xfrm>
          <a:prstGeom prst="rect">
            <a:avLst/>
          </a:prstGeom>
          <a:solidFill>
            <a:srgbClr val="B850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1"/>
          <p:cNvSpPr/>
          <p:nvPr/>
        </p:nvSpPr>
        <p:spPr>
          <a:xfrm>
            <a:off x="713232" y="457200"/>
            <a:ext cx="2743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B85042"/>
                </a:solidFill>
                <a:latin typeface="Arial"/>
                <a:ea typeface="Arial"/>
                <a:cs typeface="Arial"/>
                <a:sym typeface="Arial"/>
              </a:rPr>
              <a:t>GUIDE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1"/>
          <p:cNvSpPr/>
          <p:nvPr/>
        </p:nvSpPr>
        <p:spPr>
          <a:xfrm>
            <a:off x="457200" y="1097280"/>
            <a:ext cx="6400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3600"/>
              <a:buFont typeface="Arial"/>
              <a:buNone/>
            </a:pPr>
            <a:r>
              <a:rPr b="1" lang="en-US" sz="3600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  <a:t>작성 가이드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1"/>
          <p:cNvSpPr/>
          <p:nvPr/>
        </p:nvSpPr>
        <p:spPr>
          <a:xfrm>
            <a:off x="457200" y="187452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뒤 10장의 템플릿을 이렇게 채워주세요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1"/>
          <p:cNvSpPr/>
          <p:nvPr/>
        </p:nvSpPr>
        <p:spPr>
          <a:xfrm>
            <a:off x="457200" y="2514600"/>
            <a:ext cx="502920" cy="502920"/>
          </a:xfrm>
          <a:prstGeom prst="ellipse">
            <a:avLst/>
          </a:prstGeom>
          <a:solidFill>
            <a:srgbClr val="B850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457200" y="251460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①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1097280" y="2514600"/>
            <a:ext cx="6400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  <a:t>카드 번호 + 제목란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1097280" y="2898648"/>
            <a:ext cx="6400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각 카드의 주제를 한 줄로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(예: "강릉인데 사람 없는 골목 찾았다")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457200" y="3474720"/>
            <a:ext cx="502920" cy="502920"/>
          </a:xfrm>
          <a:prstGeom prst="ellipse">
            <a:avLst/>
          </a:prstGeom>
          <a:solidFill>
            <a:srgbClr val="B850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457200" y="347472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②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1097280" y="3474720"/>
            <a:ext cx="6400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  <a:t>작업 노트 (메모 1·2·3)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1097280" y="3858768"/>
            <a:ext cx="6400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추후 개발·홍보 시 참고할 메모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(예: "여기 운영시간 재확인", "릴스도 만들기")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457200" y="4434840"/>
            <a:ext cx="502920" cy="502920"/>
          </a:xfrm>
          <a:prstGeom prst="ellipse">
            <a:avLst/>
          </a:prstGeom>
          <a:solidFill>
            <a:srgbClr val="B850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457200" y="443484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③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1097280" y="4434840"/>
            <a:ext cx="6400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  <a:t>배포 설명글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1097280" y="4818888"/>
            <a:ext cx="6400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카드뉴스 게시 시 함께 올릴 본문 카피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인스타·블로그 캡션에 들어갈 글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1"/>
          <p:cNvSpPr/>
          <p:nvPr/>
        </p:nvSpPr>
        <p:spPr>
          <a:xfrm>
            <a:off x="457200" y="5394960"/>
            <a:ext cx="502920" cy="502920"/>
          </a:xfrm>
          <a:prstGeom prst="ellipse">
            <a:avLst/>
          </a:prstGeom>
          <a:solidFill>
            <a:srgbClr val="B850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1"/>
          <p:cNvSpPr/>
          <p:nvPr/>
        </p:nvSpPr>
        <p:spPr>
          <a:xfrm>
            <a:off x="457200" y="539496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④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1"/>
          <p:cNvSpPr/>
          <p:nvPr/>
        </p:nvSpPr>
        <p:spPr>
          <a:xfrm>
            <a:off x="1097280" y="5394960"/>
            <a:ext cx="6400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  <a:t>카드뉴스 영역 (우측 1080×1350)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1"/>
          <p:cNvSpPr/>
          <p:nvPr/>
        </p:nvSpPr>
        <p:spPr>
          <a:xfrm>
            <a:off x="1097280" y="5779008"/>
            <a:ext cx="6400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회색: 안전 여백 (텍스트 배치 X)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크림색 1:1 영역: 핵심 콘텐츠 (사진·메인 카피)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1"/>
          <p:cNvSpPr/>
          <p:nvPr/>
        </p:nvSpPr>
        <p:spPr>
          <a:xfrm>
            <a:off x="8046720" y="2957364"/>
            <a:ext cx="3566160" cy="2175309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5555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1"/>
          <p:cNvSpPr/>
          <p:nvPr/>
        </p:nvSpPr>
        <p:spPr>
          <a:xfrm>
            <a:off x="8138160" y="3094524"/>
            <a:ext cx="36576" cy="164592"/>
          </a:xfrm>
          <a:prstGeom prst="rect">
            <a:avLst/>
          </a:prstGeom>
          <a:solidFill>
            <a:srgbClr val="B850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1"/>
          <p:cNvSpPr/>
          <p:nvPr/>
        </p:nvSpPr>
        <p:spPr>
          <a:xfrm>
            <a:off x="8229600" y="3067092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B8504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1"/>
          <p:cNvSpPr/>
          <p:nvPr/>
        </p:nvSpPr>
        <p:spPr>
          <a:xfrm>
            <a:off x="8138160" y="3304836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300"/>
              <a:buFont typeface="Arial"/>
              <a:buNone/>
            </a:pPr>
            <a:r>
              <a:rPr b="1" lang="en-US" sz="1300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  <a:t>제목란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1"/>
          <p:cNvSpPr/>
          <p:nvPr/>
        </p:nvSpPr>
        <p:spPr>
          <a:xfrm>
            <a:off x="9509760" y="3185964"/>
            <a:ext cx="292608" cy="292608"/>
          </a:xfrm>
          <a:prstGeom prst="ellipse">
            <a:avLst/>
          </a:prstGeom>
          <a:solidFill>
            <a:srgbClr val="B85042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1"/>
          <p:cNvSpPr/>
          <p:nvPr/>
        </p:nvSpPr>
        <p:spPr>
          <a:xfrm>
            <a:off x="9509760" y="3185964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①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1"/>
          <p:cNvSpPr/>
          <p:nvPr/>
        </p:nvSpPr>
        <p:spPr>
          <a:xfrm>
            <a:off x="8138160" y="3537287"/>
            <a:ext cx="21031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800"/>
              <a:buFont typeface="Arial"/>
              <a:buNone/>
            </a:pPr>
            <a:r>
              <a:rPr lang="en-US" sz="80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추후 개발 및 홍보 배포 관련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1"/>
          <p:cNvSpPr/>
          <p:nvPr/>
        </p:nvSpPr>
        <p:spPr>
          <a:xfrm>
            <a:off x="8229600" y="3811607"/>
            <a:ext cx="45720" cy="4572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1"/>
          <p:cNvSpPr/>
          <p:nvPr/>
        </p:nvSpPr>
        <p:spPr>
          <a:xfrm>
            <a:off x="8321040" y="3765887"/>
            <a:ext cx="1371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Arial"/>
              <a:buNone/>
            </a:pPr>
            <a:r>
              <a:rPr lang="en-US" sz="800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메모 1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1"/>
          <p:cNvSpPr/>
          <p:nvPr/>
        </p:nvSpPr>
        <p:spPr>
          <a:xfrm>
            <a:off x="8229600" y="3994487"/>
            <a:ext cx="45720" cy="4572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1"/>
          <p:cNvSpPr/>
          <p:nvPr/>
        </p:nvSpPr>
        <p:spPr>
          <a:xfrm>
            <a:off x="8321040" y="3948767"/>
            <a:ext cx="1371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Arial"/>
              <a:buNone/>
            </a:pPr>
            <a:r>
              <a:rPr lang="en-US" sz="800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메모 2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1"/>
          <p:cNvSpPr/>
          <p:nvPr/>
        </p:nvSpPr>
        <p:spPr>
          <a:xfrm>
            <a:off x="9509760" y="3775031"/>
            <a:ext cx="292608" cy="292608"/>
          </a:xfrm>
          <a:prstGeom prst="ellipse">
            <a:avLst/>
          </a:prstGeom>
          <a:solidFill>
            <a:srgbClr val="B85042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1"/>
          <p:cNvSpPr/>
          <p:nvPr/>
        </p:nvSpPr>
        <p:spPr>
          <a:xfrm>
            <a:off x="9509760" y="3775031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②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1"/>
          <p:cNvSpPr/>
          <p:nvPr/>
        </p:nvSpPr>
        <p:spPr>
          <a:xfrm>
            <a:off x="8138160" y="4177368"/>
            <a:ext cx="2194560" cy="841248"/>
          </a:xfrm>
          <a:prstGeom prst="rect">
            <a:avLst/>
          </a:prstGeom>
          <a:solidFill>
            <a:srgbClr val="F4EFE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1"/>
          <p:cNvSpPr/>
          <p:nvPr/>
        </p:nvSpPr>
        <p:spPr>
          <a:xfrm>
            <a:off x="8229600" y="4268807"/>
            <a:ext cx="21031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800"/>
              <a:buFont typeface="Arial"/>
              <a:buNone/>
            </a:pPr>
            <a:r>
              <a:rPr b="1" lang="en-US" sz="80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카드뉴스 배포 시 함께 넣을 설명 글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1"/>
          <p:cNvSpPr/>
          <p:nvPr/>
        </p:nvSpPr>
        <p:spPr>
          <a:xfrm>
            <a:off x="8321040" y="4680287"/>
            <a:ext cx="45720" cy="4572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1"/>
          <p:cNvSpPr/>
          <p:nvPr/>
        </p:nvSpPr>
        <p:spPr>
          <a:xfrm>
            <a:off x="8412480" y="4616279"/>
            <a:ext cx="1371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Arial"/>
              <a:buNone/>
            </a:pPr>
            <a:r>
              <a:rPr lang="en-US" sz="800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~~~~~~~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1"/>
          <p:cNvSpPr/>
          <p:nvPr/>
        </p:nvSpPr>
        <p:spPr>
          <a:xfrm>
            <a:off x="9537192" y="4524840"/>
            <a:ext cx="292608" cy="292608"/>
          </a:xfrm>
          <a:prstGeom prst="ellipse">
            <a:avLst/>
          </a:prstGeom>
          <a:solidFill>
            <a:srgbClr val="B85042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1"/>
          <p:cNvSpPr/>
          <p:nvPr/>
        </p:nvSpPr>
        <p:spPr>
          <a:xfrm>
            <a:off x="9537192" y="4524840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③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1"/>
          <p:cNvSpPr/>
          <p:nvPr/>
        </p:nvSpPr>
        <p:spPr>
          <a:xfrm>
            <a:off x="10652760" y="3506004"/>
            <a:ext cx="777240" cy="96012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1"/>
          <p:cNvSpPr/>
          <p:nvPr/>
        </p:nvSpPr>
        <p:spPr>
          <a:xfrm>
            <a:off x="10652760" y="3602016"/>
            <a:ext cx="777240" cy="777240"/>
          </a:xfrm>
          <a:prstGeom prst="rect">
            <a:avLst/>
          </a:prstGeom>
          <a:solidFill>
            <a:srgbClr val="F4EFE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1"/>
          <p:cNvSpPr/>
          <p:nvPr/>
        </p:nvSpPr>
        <p:spPr>
          <a:xfrm>
            <a:off x="10652760" y="4379256"/>
            <a:ext cx="777240" cy="96012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1"/>
          <p:cNvSpPr/>
          <p:nvPr/>
        </p:nvSpPr>
        <p:spPr>
          <a:xfrm>
            <a:off x="10895076" y="3844332"/>
            <a:ext cx="292608" cy="292608"/>
          </a:xfrm>
          <a:prstGeom prst="ellipse">
            <a:avLst/>
          </a:prstGeom>
          <a:solidFill>
            <a:srgbClr val="B85042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1"/>
          <p:cNvSpPr/>
          <p:nvPr/>
        </p:nvSpPr>
        <p:spPr>
          <a:xfrm>
            <a:off x="10895076" y="3844332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④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1"/>
          <p:cNvSpPr/>
          <p:nvPr/>
        </p:nvSpPr>
        <p:spPr>
          <a:xfrm>
            <a:off x="457200" y="6309360"/>
            <a:ext cx="7132320" cy="274320"/>
          </a:xfrm>
          <a:prstGeom prst="rect">
            <a:avLst/>
          </a:prstGeom>
          <a:solidFill>
            <a:srgbClr val="F4EFE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1"/>
          <p:cNvSpPr/>
          <p:nvPr/>
        </p:nvSpPr>
        <p:spPr>
          <a:xfrm>
            <a:off x="457200" y="6309360"/>
            <a:ext cx="7132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  <a:t>작성 순서:  ① 카드 제목 정하기 → ④ 1:1 영역 핵심 메시지 → ② 작업 노트 → ③ 배포 설명글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"/>
          <p:cNvSpPr/>
          <p:nvPr/>
        </p:nvSpPr>
        <p:spPr>
          <a:xfrm>
            <a:off x="457200" y="3546909"/>
            <a:ext cx="6533147" cy="2792975"/>
          </a:xfrm>
          <a:prstGeom prst="rect">
            <a:avLst/>
          </a:prstGeom>
          <a:solidFill>
            <a:srgbClr val="F8F5F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457200" y="457200"/>
            <a:ext cx="137160" cy="365760"/>
          </a:xfrm>
          <a:prstGeom prst="rect">
            <a:avLst/>
          </a:prstGeom>
          <a:solidFill>
            <a:srgbClr val="B850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731520" y="45720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B8504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1" lang="en-US" sz="2400">
                <a:solidFill>
                  <a:srgbClr val="B85042"/>
                </a:solidFill>
              </a:rPr>
              <a:t>1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457200" y="914400"/>
            <a:ext cx="7265100" cy="13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3200"/>
              <a:buFont typeface="Arial"/>
              <a:buNone/>
            </a:pPr>
            <a:r>
              <a:rPr b="1" lang="en-US" sz="3200">
                <a:solidFill>
                  <a:srgbClr val="2D2D2D"/>
                </a:solidFill>
              </a:rPr>
              <a:t> 게임 좋아!  모험 좋아!! </a:t>
            </a:r>
            <a:endParaRPr b="1" sz="3200">
              <a:solidFill>
                <a:srgbClr val="2D2D2D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3200"/>
              <a:buFont typeface="Arial"/>
              <a:buNone/>
            </a:pPr>
            <a:r>
              <a:rPr b="1" lang="en-US" sz="3200">
                <a:solidFill>
                  <a:srgbClr val="2D2D2D"/>
                </a:solidFill>
              </a:rPr>
              <a:t> 그럼 여기로 와~~</a:t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609600" y="3699309"/>
            <a:ext cx="4710363" cy="1457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600">
                <a:solidFill>
                  <a:srgbClr val="8B7E74"/>
                </a:solidFill>
                <a:latin typeface="Arial"/>
                <a:ea typeface="Arial"/>
                <a:cs typeface="Arial"/>
                <a:sym typeface="Arial"/>
              </a:rPr>
            </a:br>
            <a:endParaRPr sz="1600">
              <a:solidFill>
                <a:srgbClr val="8B7E7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8B7E74"/>
              </a:buClr>
              <a:buSzPts val="1600"/>
              <a:buFont typeface="Noto Sans Symbols"/>
              <a:buChar char="▪"/>
            </a:pPr>
            <a:r>
              <a:rPr lang="en-US" sz="1600">
                <a:solidFill>
                  <a:srgbClr val="8B7E74"/>
                </a:solidFill>
              </a:rPr>
              <a:t>구로</a:t>
            </a:r>
            <a:r>
              <a:rPr lang="en-US" sz="1600">
                <a:solidFill>
                  <a:srgbClr val="8B7E74"/>
                </a:solidFill>
                <a:latin typeface="Arial"/>
                <a:ea typeface="Arial"/>
                <a:cs typeface="Arial"/>
                <a:sym typeface="Arial"/>
              </a:rPr>
              <a:t>~</a:t>
            </a:r>
            <a:r>
              <a:rPr lang="en-US" sz="1600">
                <a:solidFill>
                  <a:srgbClr val="8B7E74"/>
                </a:solidFill>
              </a:rPr>
              <a:t> 생각보다 구리지 않아 </a:t>
            </a:r>
            <a:endParaRPr sz="1600">
              <a:solidFill>
                <a:srgbClr val="8B7E74"/>
              </a:solidFill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8B7E74"/>
              </a:buClr>
              <a:buSzPts val="1600"/>
              <a:buFont typeface="Noto Sans Symbols"/>
              <a:buChar char="▪"/>
            </a:pPr>
            <a:r>
              <a:rPr lang="en-US" sz="1600">
                <a:solidFill>
                  <a:srgbClr val="8B7E74"/>
                </a:solidFill>
              </a:rPr>
              <a:t>          신나는 곳으로 </a:t>
            </a:r>
            <a:r>
              <a:rPr lang="en-US" sz="1600">
                <a:solidFill>
                  <a:srgbClr val="8B7E74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>
                <a:solidFill>
                  <a:srgbClr val="8B7E74"/>
                </a:solidFill>
              </a:rPr>
              <a:t>가보 구로~~~ </a:t>
            </a:r>
            <a:endParaRPr sz="1600">
              <a:solidFill>
                <a:srgbClr val="8B7E74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8B7E74"/>
              </a:solidFill>
            </a:endParaRPr>
          </a:p>
        </p:txBody>
      </p:sp>
      <p:grpSp>
        <p:nvGrpSpPr>
          <p:cNvPr id="68" name="Google Shape;68;p3"/>
          <p:cNvGrpSpPr/>
          <p:nvPr/>
        </p:nvGrpSpPr>
        <p:grpSpPr>
          <a:xfrm>
            <a:off x="7542000" y="1479884"/>
            <a:ext cx="3888000" cy="4860000"/>
            <a:chOff x="7493668" y="1479885"/>
            <a:chExt cx="3888000" cy="4860000"/>
          </a:xfrm>
        </p:grpSpPr>
        <p:sp>
          <p:nvSpPr>
            <p:cNvPr id="69" name="Google Shape;69;p3"/>
            <p:cNvSpPr/>
            <p:nvPr/>
          </p:nvSpPr>
          <p:spPr>
            <a:xfrm>
              <a:off x="7493668" y="1479885"/>
              <a:ext cx="3888000" cy="486000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" name="Google Shape;70;p3"/>
            <p:cNvSpPr/>
            <p:nvPr/>
          </p:nvSpPr>
          <p:spPr>
            <a:xfrm>
              <a:off x="7493668" y="1965885"/>
              <a:ext cx="3888000" cy="3888000"/>
            </a:xfrm>
            <a:prstGeom prst="rect">
              <a:avLst/>
            </a:prstGeom>
            <a:solidFill>
              <a:srgbClr val="FFF2CC">
                <a:alpha val="30196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1" name="Google Shape;71;p3"/>
          <p:cNvSpPr txBox="1"/>
          <p:nvPr/>
        </p:nvSpPr>
        <p:spPr>
          <a:xfrm>
            <a:off x="9268827" y="6398218"/>
            <a:ext cx="83168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8B7E74"/>
                </a:solidFill>
                <a:latin typeface="Arial"/>
                <a:ea typeface="Arial"/>
                <a:cs typeface="Arial"/>
                <a:sym typeface="Arial"/>
              </a:rPr>
              <a:t>1080px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 txBox="1"/>
          <p:nvPr/>
        </p:nvSpPr>
        <p:spPr>
          <a:xfrm>
            <a:off x="11430000" y="3699309"/>
            <a:ext cx="83168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8B7E74"/>
                </a:solidFill>
                <a:latin typeface="Arial"/>
                <a:ea typeface="Arial"/>
                <a:cs typeface="Arial"/>
                <a:sym typeface="Arial"/>
              </a:rPr>
              <a:t>1350px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3" name="Google Shape;73;p3" title="20260527_100426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30325" y="153775"/>
            <a:ext cx="5043574" cy="5649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" name="Google Shape;79;p2"/>
          <p:cNvGrpSpPr/>
          <p:nvPr/>
        </p:nvGrpSpPr>
        <p:grpSpPr>
          <a:xfrm>
            <a:off x="7542000" y="1479884"/>
            <a:ext cx="3888000" cy="4860000"/>
            <a:chOff x="7493668" y="1479885"/>
            <a:chExt cx="3888000" cy="4860000"/>
          </a:xfrm>
        </p:grpSpPr>
        <p:sp>
          <p:nvSpPr>
            <p:cNvPr id="80" name="Google Shape;80;p2"/>
            <p:cNvSpPr/>
            <p:nvPr/>
          </p:nvSpPr>
          <p:spPr>
            <a:xfrm>
              <a:off x="7493668" y="1479885"/>
              <a:ext cx="3888000" cy="486000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" name="Google Shape;81;p2"/>
            <p:cNvSpPr/>
            <p:nvPr/>
          </p:nvSpPr>
          <p:spPr>
            <a:xfrm>
              <a:off x="7493668" y="1965885"/>
              <a:ext cx="3888000" cy="3888000"/>
            </a:xfrm>
            <a:prstGeom prst="rect">
              <a:avLst/>
            </a:prstGeom>
            <a:solidFill>
              <a:srgbClr val="FFF2CC">
                <a:alpha val="30196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2" name="Google Shape;82;p2"/>
          <p:cNvSpPr/>
          <p:nvPr/>
        </p:nvSpPr>
        <p:spPr>
          <a:xfrm>
            <a:off x="457200" y="3546909"/>
            <a:ext cx="6533147" cy="2792975"/>
          </a:xfrm>
          <a:prstGeom prst="rect">
            <a:avLst/>
          </a:prstGeom>
          <a:solidFill>
            <a:srgbClr val="F8F5F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2"/>
          <p:cNvSpPr/>
          <p:nvPr/>
        </p:nvSpPr>
        <p:spPr>
          <a:xfrm>
            <a:off x="457200" y="457200"/>
            <a:ext cx="137160" cy="365760"/>
          </a:xfrm>
          <a:prstGeom prst="rect">
            <a:avLst/>
          </a:prstGeom>
          <a:solidFill>
            <a:srgbClr val="B850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2"/>
          <p:cNvSpPr/>
          <p:nvPr/>
        </p:nvSpPr>
        <p:spPr>
          <a:xfrm>
            <a:off x="731520" y="45720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B8504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1" lang="en-US" sz="2400">
                <a:solidFill>
                  <a:srgbClr val="B85042"/>
                </a:solidFill>
              </a:rPr>
              <a:t>2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2"/>
          <p:cNvSpPr/>
          <p:nvPr/>
        </p:nvSpPr>
        <p:spPr>
          <a:xfrm>
            <a:off x="457200" y="914400"/>
            <a:ext cx="6096300" cy="199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3200"/>
              <a:buFont typeface="Arial"/>
              <a:buNone/>
            </a:pPr>
            <a:r>
              <a:rPr b="1" lang="en-US" sz="3200">
                <a:solidFill>
                  <a:srgbClr val="2D2D2D"/>
                </a:solidFill>
              </a:rPr>
              <a:t> 해외여행가고는 싶은데 </a:t>
            </a:r>
            <a:endParaRPr b="1" sz="3200">
              <a:solidFill>
                <a:srgbClr val="2D2D2D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3200"/>
              <a:buFont typeface="Arial"/>
              <a:buNone/>
            </a:pPr>
            <a:r>
              <a:rPr b="1" lang="en-US" sz="3200">
                <a:solidFill>
                  <a:srgbClr val="2D2D2D"/>
                </a:solidFill>
              </a:rPr>
              <a:t> 돈 없고 시간 없다 ?</a:t>
            </a:r>
            <a:endParaRPr b="1" sz="3200">
              <a:solidFill>
                <a:srgbClr val="2D2D2D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3200"/>
              <a:buFont typeface="Arial"/>
              <a:buNone/>
            </a:pPr>
            <a:r>
              <a:rPr b="1" lang="en-US" sz="3200">
                <a:solidFill>
                  <a:srgbClr val="2D2D2D"/>
                </a:solidFill>
              </a:rPr>
              <a:t> 방법은 있지!</a:t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2"/>
          <p:cNvSpPr/>
          <p:nvPr/>
        </p:nvSpPr>
        <p:spPr>
          <a:xfrm>
            <a:off x="609600" y="3699309"/>
            <a:ext cx="4710363" cy="1457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8B7E74"/>
                </a:solidFill>
              </a:rPr>
              <a:t>멀리 안가도 돼 </a:t>
            </a:r>
            <a:endParaRPr b="1" sz="1600">
              <a:solidFill>
                <a:srgbClr val="8B7E74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8B7E74"/>
                </a:solidFill>
              </a:rPr>
              <a:t>해외 여행자의 눈으로 보면 </a:t>
            </a:r>
            <a:endParaRPr b="1" sz="1600">
              <a:solidFill>
                <a:srgbClr val="8B7E74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8B7E74"/>
                </a:solidFill>
              </a:rPr>
              <a:t>이국적인 중국이 서울안에 짠~~</a:t>
            </a:r>
            <a:endParaRPr b="1" sz="1600">
              <a:solidFill>
                <a:srgbClr val="8B7E74"/>
              </a:solidFill>
            </a:endParaRPr>
          </a:p>
        </p:txBody>
      </p:sp>
      <p:sp>
        <p:nvSpPr>
          <p:cNvPr id="87" name="Google Shape;87;p2"/>
          <p:cNvSpPr txBox="1"/>
          <p:nvPr/>
        </p:nvSpPr>
        <p:spPr>
          <a:xfrm>
            <a:off x="9268827" y="6398218"/>
            <a:ext cx="83168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8B7E74"/>
                </a:solidFill>
                <a:latin typeface="Arial"/>
                <a:ea typeface="Arial"/>
                <a:cs typeface="Arial"/>
                <a:sym typeface="Arial"/>
              </a:rPr>
              <a:t>1080px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2"/>
          <p:cNvSpPr txBox="1"/>
          <p:nvPr/>
        </p:nvSpPr>
        <p:spPr>
          <a:xfrm>
            <a:off x="11430000" y="3699309"/>
            <a:ext cx="83168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8B7E74"/>
                </a:solidFill>
                <a:latin typeface="Arial"/>
                <a:ea typeface="Arial"/>
                <a:cs typeface="Arial"/>
                <a:sym typeface="Arial"/>
              </a:rPr>
              <a:t>1350px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9" name="Google Shape;89;p2" title="20260527_113556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90350" y="0"/>
            <a:ext cx="4945025" cy="609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4"/>
          <p:cNvSpPr/>
          <p:nvPr/>
        </p:nvSpPr>
        <p:spPr>
          <a:xfrm>
            <a:off x="457200" y="3546909"/>
            <a:ext cx="6533147" cy="2792975"/>
          </a:xfrm>
          <a:prstGeom prst="rect">
            <a:avLst/>
          </a:prstGeom>
          <a:solidFill>
            <a:srgbClr val="F8F5F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4"/>
          <p:cNvSpPr/>
          <p:nvPr/>
        </p:nvSpPr>
        <p:spPr>
          <a:xfrm>
            <a:off x="457200" y="457200"/>
            <a:ext cx="137160" cy="365760"/>
          </a:xfrm>
          <a:prstGeom prst="rect">
            <a:avLst/>
          </a:prstGeom>
          <a:solidFill>
            <a:srgbClr val="B850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4"/>
          <p:cNvSpPr/>
          <p:nvPr/>
        </p:nvSpPr>
        <p:spPr>
          <a:xfrm>
            <a:off x="731520" y="45720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B8504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4"/>
          <p:cNvSpPr/>
          <p:nvPr/>
        </p:nvSpPr>
        <p:spPr>
          <a:xfrm>
            <a:off x="457200" y="914400"/>
            <a:ext cx="10972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3200"/>
              <a:buFont typeface="Arial"/>
              <a:buNone/>
            </a:pPr>
            <a:r>
              <a:rPr lang="en-US" sz="3200">
                <a:solidFill>
                  <a:schemeClr val="dk1"/>
                </a:solidFill>
              </a:rPr>
              <a:t> 이렇게  돌면 반나절이 즐거워</a:t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4"/>
          <p:cNvSpPr/>
          <p:nvPr/>
        </p:nvSpPr>
        <p:spPr>
          <a:xfrm>
            <a:off x="609600" y="3158376"/>
            <a:ext cx="4710300" cy="304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30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AutoNum type="arabicPeriod"/>
            </a:pPr>
            <a:r>
              <a:rPr b="1" lang="en-US" sz="1600">
                <a:solidFill>
                  <a:srgbClr val="8B7E74"/>
                </a:solidFill>
              </a:rPr>
              <a:t>깔깔 거리 식당 점심 식사 -1시간-인당 1만 5천원</a:t>
            </a:r>
            <a:endParaRPr b="1" sz="1600">
              <a:solidFill>
                <a:srgbClr val="8B7E74"/>
              </a:solidFill>
            </a:endParaRPr>
          </a:p>
          <a:p>
            <a:pPr indent="-330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8B7E74"/>
              </a:buClr>
              <a:buSzPts val="1600"/>
              <a:buAutoNum type="arabicPeriod"/>
            </a:pPr>
            <a:r>
              <a:rPr b="1" lang="en-US" sz="1600">
                <a:solidFill>
                  <a:srgbClr val="8B7E74"/>
                </a:solidFill>
              </a:rPr>
              <a:t>도보로 넷마블 게임 박물관 이동 15분</a:t>
            </a:r>
            <a:endParaRPr b="1" sz="1600">
              <a:solidFill>
                <a:srgbClr val="8B7E74"/>
              </a:solidFill>
            </a:endParaRPr>
          </a:p>
          <a:p>
            <a:pPr indent="-330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8B7E74"/>
              </a:buClr>
              <a:buSzPts val="1600"/>
              <a:buAutoNum type="arabicPeriod"/>
            </a:pPr>
            <a:r>
              <a:rPr b="1" lang="en-US" sz="1600">
                <a:solidFill>
                  <a:srgbClr val="8B7E74"/>
                </a:solidFill>
              </a:rPr>
              <a:t>넷마블 게임 박물관 1시간 30분-인당 2만원(입장료 , 기념품)</a:t>
            </a:r>
            <a:endParaRPr b="1" sz="1600">
              <a:solidFill>
                <a:srgbClr val="8B7E74"/>
              </a:solidFill>
            </a:endParaRPr>
          </a:p>
          <a:p>
            <a:pPr indent="-330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8B7E74"/>
              </a:buClr>
              <a:buSzPts val="1600"/>
              <a:buAutoNum type="arabicPeriod"/>
            </a:pPr>
            <a:r>
              <a:rPr b="1" lang="en-US" sz="1600">
                <a:solidFill>
                  <a:srgbClr val="8B7E74"/>
                </a:solidFill>
              </a:rPr>
              <a:t>커피브레이크 -30분 -인당 7천원 </a:t>
            </a:r>
            <a:endParaRPr b="1" sz="1600">
              <a:solidFill>
                <a:srgbClr val="8B7E74"/>
              </a:solidFill>
            </a:endParaRPr>
          </a:p>
          <a:p>
            <a:pPr indent="-330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8B7E74"/>
              </a:buClr>
              <a:buSzPts val="1600"/>
              <a:buAutoNum type="arabicPeriod"/>
            </a:pPr>
            <a:r>
              <a:rPr b="1" lang="en-US" sz="1600">
                <a:solidFill>
                  <a:srgbClr val="8B7E74"/>
                </a:solidFill>
              </a:rPr>
              <a:t>G밸리 산업 박물관 - 30분 무료</a:t>
            </a:r>
            <a:endParaRPr b="1" sz="1600">
              <a:solidFill>
                <a:srgbClr val="8B7E74"/>
              </a:solidFill>
            </a:endParaRPr>
          </a:p>
          <a:p>
            <a:pPr indent="-330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8B7E74"/>
              </a:buClr>
              <a:buSzPts val="1600"/>
              <a:buAutoNum type="arabicPeriod"/>
            </a:pPr>
            <a:r>
              <a:rPr b="1" lang="en-US" sz="1600">
                <a:solidFill>
                  <a:srgbClr val="8B7E74"/>
                </a:solidFill>
              </a:rPr>
              <a:t>남구로 시장으로 버스로 이동 15분 </a:t>
            </a:r>
            <a:endParaRPr b="1" sz="1600">
              <a:solidFill>
                <a:srgbClr val="8B7E74"/>
              </a:solidFill>
            </a:endParaRPr>
          </a:p>
          <a:p>
            <a:pPr indent="-330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8B7E74"/>
              </a:buClr>
              <a:buSzPts val="1600"/>
              <a:buAutoNum type="arabicPeriod"/>
            </a:pPr>
            <a:r>
              <a:rPr b="1" lang="en-US" sz="1600">
                <a:solidFill>
                  <a:srgbClr val="8B7E74"/>
                </a:solidFill>
              </a:rPr>
              <a:t>남구로 시장 구경및 시식 20분 -간식 구매 1만원</a:t>
            </a:r>
            <a:endParaRPr b="1" sz="1600">
              <a:solidFill>
                <a:srgbClr val="8B7E74"/>
              </a:solidFill>
            </a:endParaRPr>
          </a:p>
          <a:p>
            <a:pPr indent="-330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8B7E74"/>
              </a:buClr>
              <a:buSzPts val="1600"/>
              <a:buAutoNum type="arabicPeriod"/>
            </a:pPr>
            <a:r>
              <a:rPr b="1" lang="en-US" sz="1600">
                <a:solidFill>
                  <a:srgbClr val="8B7E74"/>
                </a:solidFill>
              </a:rPr>
              <a:t>남구로 시장내 린궁즈멘관 40분  인당 1만원</a:t>
            </a:r>
            <a:endParaRPr b="1" sz="1600">
              <a:solidFill>
                <a:srgbClr val="8B7E74"/>
              </a:solidFill>
            </a:endParaRPr>
          </a:p>
        </p:txBody>
      </p:sp>
      <p:sp>
        <p:nvSpPr>
          <p:cNvPr id="100" name="Google Shape;100;p4"/>
          <p:cNvSpPr/>
          <p:nvPr/>
        </p:nvSpPr>
        <p:spPr>
          <a:xfrm>
            <a:off x="609600" y="1889760"/>
            <a:ext cx="4710363" cy="1457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8B7E74"/>
                </a:solidFill>
                <a:latin typeface="Arial"/>
                <a:ea typeface="Arial"/>
                <a:cs typeface="Arial"/>
                <a:sym typeface="Arial"/>
              </a:rPr>
              <a:t>레퍼런스 or 추후 개발 및 홍보 배포 관련 메모</a:t>
            </a:r>
            <a:br>
              <a:rPr lang="en-US" sz="1600">
                <a:solidFill>
                  <a:srgbClr val="8B7E74"/>
                </a:solidFill>
                <a:latin typeface="Arial"/>
                <a:ea typeface="Arial"/>
                <a:cs typeface="Arial"/>
                <a:sym typeface="Arial"/>
              </a:rPr>
            </a:br>
            <a:endParaRPr sz="1600">
              <a:solidFill>
                <a:srgbClr val="8B7E7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8B7E74"/>
              </a:buClr>
              <a:buSzPts val="1600"/>
              <a:buFont typeface="Noto Sans Symbols"/>
              <a:buChar char="▪"/>
            </a:pPr>
            <a:r>
              <a:rPr lang="en-US" sz="1600">
                <a:solidFill>
                  <a:srgbClr val="8B7E74"/>
                </a:solidFill>
              </a:rPr>
              <a:t>자가용으로 오는 경우 추가 정보 기입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1" name="Google Shape;101;p4"/>
          <p:cNvGrpSpPr/>
          <p:nvPr/>
        </p:nvGrpSpPr>
        <p:grpSpPr>
          <a:xfrm>
            <a:off x="7542000" y="1479884"/>
            <a:ext cx="3888000" cy="4860000"/>
            <a:chOff x="7493668" y="1479885"/>
            <a:chExt cx="3888000" cy="4860000"/>
          </a:xfrm>
        </p:grpSpPr>
        <p:sp>
          <p:nvSpPr>
            <p:cNvPr id="102" name="Google Shape;102;p4"/>
            <p:cNvSpPr/>
            <p:nvPr/>
          </p:nvSpPr>
          <p:spPr>
            <a:xfrm>
              <a:off x="7493668" y="1479885"/>
              <a:ext cx="3888000" cy="486000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" name="Google Shape;103;p4"/>
            <p:cNvSpPr/>
            <p:nvPr/>
          </p:nvSpPr>
          <p:spPr>
            <a:xfrm>
              <a:off x="7493668" y="1965885"/>
              <a:ext cx="3888000" cy="3888000"/>
            </a:xfrm>
            <a:prstGeom prst="rect">
              <a:avLst/>
            </a:prstGeom>
            <a:solidFill>
              <a:srgbClr val="FFF2CC">
                <a:alpha val="30196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4" name="Google Shape;104;p4"/>
          <p:cNvSpPr txBox="1"/>
          <p:nvPr/>
        </p:nvSpPr>
        <p:spPr>
          <a:xfrm>
            <a:off x="9268827" y="6398218"/>
            <a:ext cx="83168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8B7E74"/>
                </a:solidFill>
                <a:latin typeface="Arial"/>
                <a:ea typeface="Arial"/>
                <a:cs typeface="Arial"/>
                <a:sym typeface="Arial"/>
              </a:rPr>
              <a:t>1080px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4"/>
          <p:cNvSpPr txBox="1"/>
          <p:nvPr/>
        </p:nvSpPr>
        <p:spPr>
          <a:xfrm>
            <a:off x="11430000" y="3699309"/>
            <a:ext cx="83168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8B7E74"/>
                </a:solidFill>
                <a:latin typeface="Arial"/>
                <a:ea typeface="Arial"/>
                <a:cs typeface="Arial"/>
                <a:sym typeface="Arial"/>
              </a:rPr>
              <a:t>1350px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6" name="Google Shape;106;p4" title="캡처1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46000" y="1261450"/>
            <a:ext cx="5597124" cy="486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5"/>
          <p:cNvSpPr/>
          <p:nvPr/>
        </p:nvSpPr>
        <p:spPr>
          <a:xfrm>
            <a:off x="457200" y="3546909"/>
            <a:ext cx="6533147" cy="2792975"/>
          </a:xfrm>
          <a:prstGeom prst="rect">
            <a:avLst/>
          </a:prstGeom>
          <a:solidFill>
            <a:srgbClr val="F8F5F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5"/>
          <p:cNvSpPr/>
          <p:nvPr/>
        </p:nvSpPr>
        <p:spPr>
          <a:xfrm>
            <a:off x="457200" y="457200"/>
            <a:ext cx="137160" cy="365760"/>
          </a:xfrm>
          <a:prstGeom prst="rect">
            <a:avLst/>
          </a:prstGeom>
          <a:solidFill>
            <a:srgbClr val="B850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5"/>
          <p:cNvSpPr/>
          <p:nvPr/>
        </p:nvSpPr>
        <p:spPr>
          <a:xfrm>
            <a:off x="731520" y="45720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B8504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5"/>
          <p:cNvSpPr/>
          <p:nvPr/>
        </p:nvSpPr>
        <p:spPr>
          <a:xfrm>
            <a:off x="457200" y="914400"/>
            <a:ext cx="68499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3200"/>
              <a:buFont typeface="Arial"/>
              <a:buNone/>
            </a:pPr>
            <a:r>
              <a:rPr b="1" lang="en-US" sz="3200">
                <a:solidFill>
                  <a:srgbClr val="2D2D2D"/>
                </a:solidFill>
              </a:rPr>
              <a:t> 일단 먹고 시작하자 구디의 찐 맛집들</a:t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5"/>
          <p:cNvSpPr/>
          <p:nvPr/>
        </p:nvSpPr>
        <p:spPr>
          <a:xfrm>
            <a:off x="609600" y="3699309"/>
            <a:ext cx="4710363" cy="1457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8B7E74"/>
                </a:solidFill>
              </a:rPr>
              <a:t>수많은 구디 IT 사무직의 픽을 받은 찐맛집</a:t>
            </a:r>
            <a:endParaRPr b="1" sz="1600">
              <a:solidFill>
                <a:srgbClr val="8B7E74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8B7E74"/>
                </a:solidFill>
              </a:rPr>
              <a:t>여기 말고도 많아요~~</a:t>
            </a:r>
            <a:br>
              <a:rPr lang="en-US" sz="1600">
                <a:solidFill>
                  <a:srgbClr val="8B7E74"/>
                </a:solidFill>
                <a:latin typeface="Arial"/>
                <a:ea typeface="Arial"/>
                <a:cs typeface="Arial"/>
                <a:sym typeface="Arial"/>
              </a:rPr>
            </a:br>
            <a:endParaRPr sz="1600">
              <a:solidFill>
                <a:srgbClr val="8B7E7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8B7E74"/>
              </a:buClr>
              <a:buSzPts val="1600"/>
              <a:buFont typeface="Noto Sans Symbols"/>
              <a:buChar char="▪"/>
            </a:pPr>
            <a:r>
              <a:rPr lang="en-US" sz="1600">
                <a:solidFill>
                  <a:srgbClr val="8B7E74"/>
                </a:solidFill>
                <a:latin typeface="Arial"/>
                <a:ea typeface="Arial"/>
                <a:cs typeface="Arial"/>
                <a:sym typeface="Arial"/>
              </a:rPr>
              <a:t>~~~~~~~~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5"/>
          <p:cNvSpPr/>
          <p:nvPr/>
        </p:nvSpPr>
        <p:spPr>
          <a:xfrm>
            <a:off x="609600" y="1889760"/>
            <a:ext cx="4710363" cy="1457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8B7E74"/>
                </a:solidFill>
                <a:latin typeface="Arial"/>
                <a:ea typeface="Arial"/>
                <a:cs typeface="Arial"/>
                <a:sym typeface="Arial"/>
              </a:rPr>
              <a:t>레퍼런스 or 추후 개발 및 홍보 배포 관련 메모</a:t>
            </a:r>
            <a:br>
              <a:rPr lang="en-US" sz="1600">
                <a:solidFill>
                  <a:srgbClr val="8B7E74"/>
                </a:solidFill>
                <a:latin typeface="Arial"/>
                <a:ea typeface="Arial"/>
                <a:cs typeface="Arial"/>
                <a:sym typeface="Arial"/>
              </a:rPr>
            </a:br>
            <a:endParaRPr sz="1600">
              <a:solidFill>
                <a:srgbClr val="8B7E7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8B7E74"/>
              </a:buClr>
              <a:buSzPts val="1600"/>
              <a:buFont typeface="Noto Sans Symbols"/>
              <a:buChar char="▪"/>
            </a:pPr>
            <a:r>
              <a:rPr lang="en-US" sz="1600">
                <a:solidFill>
                  <a:srgbClr val="8B7E74"/>
                </a:solidFill>
                <a:latin typeface="Arial"/>
                <a:ea typeface="Arial"/>
                <a:cs typeface="Arial"/>
                <a:sym typeface="Arial"/>
              </a:rPr>
              <a:t>메모 1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8B7E74"/>
              </a:buClr>
              <a:buSzPts val="1600"/>
              <a:buFont typeface="Noto Sans Symbols"/>
              <a:buChar char="▪"/>
            </a:pPr>
            <a:r>
              <a:rPr lang="en-US" sz="1600">
                <a:solidFill>
                  <a:srgbClr val="8B7E74"/>
                </a:solidFill>
                <a:latin typeface="Arial"/>
                <a:ea typeface="Arial"/>
                <a:cs typeface="Arial"/>
                <a:sym typeface="Arial"/>
              </a:rPr>
              <a:t>메모 2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8B7E74"/>
              </a:buClr>
              <a:buSzPts val="1600"/>
              <a:buFont typeface="Noto Sans Symbols"/>
              <a:buChar char="▪"/>
            </a:pPr>
            <a:r>
              <a:rPr lang="en-US" sz="1600">
                <a:solidFill>
                  <a:srgbClr val="8B7E74"/>
                </a:solidFill>
                <a:latin typeface="Arial"/>
                <a:ea typeface="Arial"/>
                <a:cs typeface="Arial"/>
                <a:sym typeface="Arial"/>
              </a:rPr>
              <a:t>메모 3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8" name="Google Shape;118;p5"/>
          <p:cNvGrpSpPr/>
          <p:nvPr/>
        </p:nvGrpSpPr>
        <p:grpSpPr>
          <a:xfrm>
            <a:off x="7542000" y="1479884"/>
            <a:ext cx="3888000" cy="4860000"/>
            <a:chOff x="7493668" y="1479885"/>
            <a:chExt cx="3888000" cy="4860000"/>
          </a:xfrm>
        </p:grpSpPr>
        <p:sp>
          <p:nvSpPr>
            <p:cNvPr id="119" name="Google Shape;119;p5"/>
            <p:cNvSpPr/>
            <p:nvPr/>
          </p:nvSpPr>
          <p:spPr>
            <a:xfrm>
              <a:off x="7493668" y="1479885"/>
              <a:ext cx="3888000" cy="486000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" name="Google Shape;120;p5"/>
            <p:cNvSpPr/>
            <p:nvPr/>
          </p:nvSpPr>
          <p:spPr>
            <a:xfrm>
              <a:off x="7493668" y="1965885"/>
              <a:ext cx="3888000" cy="3888000"/>
            </a:xfrm>
            <a:prstGeom prst="rect">
              <a:avLst/>
            </a:prstGeom>
            <a:solidFill>
              <a:srgbClr val="FFF2CC">
                <a:alpha val="30196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1" name="Google Shape;121;p5"/>
          <p:cNvSpPr txBox="1"/>
          <p:nvPr/>
        </p:nvSpPr>
        <p:spPr>
          <a:xfrm>
            <a:off x="9268827" y="6398218"/>
            <a:ext cx="83168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8B7E74"/>
                </a:solidFill>
                <a:latin typeface="Arial"/>
                <a:ea typeface="Arial"/>
                <a:cs typeface="Arial"/>
                <a:sym typeface="Arial"/>
              </a:rPr>
              <a:t>1080px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5"/>
          <p:cNvSpPr txBox="1"/>
          <p:nvPr/>
        </p:nvSpPr>
        <p:spPr>
          <a:xfrm>
            <a:off x="11430000" y="3699309"/>
            <a:ext cx="83168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8B7E74"/>
                </a:solidFill>
                <a:latin typeface="Arial"/>
                <a:ea typeface="Arial"/>
                <a:cs typeface="Arial"/>
                <a:sym typeface="Arial"/>
              </a:rPr>
              <a:t>1350px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3" name="Google Shape;123;p5" title="캡처1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07101" y="685525"/>
            <a:ext cx="4157747" cy="5943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6"/>
          <p:cNvSpPr/>
          <p:nvPr/>
        </p:nvSpPr>
        <p:spPr>
          <a:xfrm>
            <a:off x="457200" y="3546909"/>
            <a:ext cx="6533147" cy="2792975"/>
          </a:xfrm>
          <a:prstGeom prst="rect">
            <a:avLst/>
          </a:prstGeom>
          <a:solidFill>
            <a:srgbClr val="F8F5F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6"/>
          <p:cNvSpPr/>
          <p:nvPr/>
        </p:nvSpPr>
        <p:spPr>
          <a:xfrm>
            <a:off x="457200" y="457200"/>
            <a:ext cx="137160" cy="365760"/>
          </a:xfrm>
          <a:prstGeom prst="rect">
            <a:avLst/>
          </a:prstGeom>
          <a:solidFill>
            <a:srgbClr val="B850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6"/>
          <p:cNvSpPr/>
          <p:nvPr/>
        </p:nvSpPr>
        <p:spPr>
          <a:xfrm>
            <a:off x="731520" y="45720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B85042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6"/>
          <p:cNvSpPr/>
          <p:nvPr/>
        </p:nvSpPr>
        <p:spPr>
          <a:xfrm>
            <a:off x="457200" y="914400"/>
            <a:ext cx="56349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3200"/>
              <a:buFont typeface="Arial"/>
              <a:buNone/>
            </a:pPr>
            <a:r>
              <a:rPr lang="en-US" sz="3200">
                <a:solidFill>
                  <a:schemeClr val="dk1"/>
                </a:solidFill>
              </a:rPr>
              <a:t> 넷마블 게임 박물관</a:t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6"/>
          <p:cNvSpPr/>
          <p:nvPr/>
        </p:nvSpPr>
        <p:spPr>
          <a:xfrm>
            <a:off x="609600" y="3699309"/>
            <a:ext cx="4710363" cy="1457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8B7E74"/>
                </a:solidFill>
              </a:rPr>
              <a:t>게임 만들기 등 온갖 체험을 하고 나면 </a:t>
            </a:r>
            <a:endParaRPr sz="1600">
              <a:solidFill>
                <a:srgbClr val="8B7E74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8B7E74"/>
                </a:solidFill>
              </a:rPr>
              <a:t>레트로 오락실에서 무제한 게임 </a:t>
            </a:r>
            <a:endParaRPr sz="1600">
              <a:solidFill>
                <a:srgbClr val="8B7E74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8B7E74"/>
                </a:solidFill>
              </a:rPr>
              <a:t>어른도 아이도 시간 가는 줄 모릅니다용</a:t>
            </a:r>
            <a:endParaRPr sz="1600">
              <a:solidFill>
                <a:srgbClr val="8B7E74"/>
              </a:solidFill>
            </a:endParaRPr>
          </a:p>
        </p:txBody>
      </p:sp>
      <p:sp>
        <p:nvSpPr>
          <p:cNvPr id="134" name="Google Shape;134;p6"/>
          <p:cNvSpPr/>
          <p:nvPr/>
        </p:nvSpPr>
        <p:spPr>
          <a:xfrm>
            <a:off x="609600" y="1889760"/>
            <a:ext cx="4710363" cy="1457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8B7E74"/>
                </a:solidFill>
                <a:latin typeface="Arial"/>
                <a:ea typeface="Arial"/>
                <a:cs typeface="Arial"/>
                <a:sym typeface="Arial"/>
              </a:rPr>
              <a:t>레퍼런스 or 추후 개발 및 홍보 배포 관련 메모</a:t>
            </a:r>
            <a:br>
              <a:rPr lang="en-US" sz="1600">
                <a:solidFill>
                  <a:srgbClr val="8B7E74"/>
                </a:solidFill>
                <a:latin typeface="Arial"/>
                <a:ea typeface="Arial"/>
                <a:cs typeface="Arial"/>
                <a:sym typeface="Arial"/>
              </a:rPr>
            </a:br>
            <a:endParaRPr sz="1600">
              <a:solidFill>
                <a:srgbClr val="8B7E7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8B7E74"/>
              </a:buClr>
              <a:buSzPts val="1600"/>
              <a:buFont typeface="Noto Sans Symbols"/>
              <a:buChar char="▪"/>
            </a:pPr>
            <a:r>
              <a:rPr lang="en-US" sz="1600">
                <a:solidFill>
                  <a:srgbClr val="8B7E74"/>
                </a:solidFill>
                <a:latin typeface="Arial"/>
                <a:ea typeface="Arial"/>
                <a:cs typeface="Arial"/>
                <a:sym typeface="Arial"/>
              </a:rPr>
              <a:t>메모 1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8B7E74"/>
              </a:buClr>
              <a:buSzPts val="1600"/>
              <a:buFont typeface="Noto Sans Symbols"/>
              <a:buChar char="▪"/>
            </a:pPr>
            <a:r>
              <a:rPr lang="en-US" sz="1600">
                <a:solidFill>
                  <a:srgbClr val="8B7E74"/>
                </a:solidFill>
                <a:latin typeface="Arial"/>
                <a:ea typeface="Arial"/>
                <a:cs typeface="Arial"/>
                <a:sym typeface="Arial"/>
              </a:rPr>
              <a:t>메모 2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8B7E74"/>
              </a:buClr>
              <a:buSzPts val="1600"/>
              <a:buFont typeface="Noto Sans Symbols"/>
              <a:buChar char="▪"/>
            </a:pPr>
            <a:r>
              <a:rPr lang="en-US" sz="1600">
                <a:solidFill>
                  <a:srgbClr val="8B7E74"/>
                </a:solidFill>
                <a:latin typeface="Arial"/>
                <a:ea typeface="Arial"/>
                <a:cs typeface="Arial"/>
                <a:sym typeface="Arial"/>
              </a:rPr>
              <a:t>메모 3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5" name="Google Shape;135;p6"/>
          <p:cNvGrpSpPr/>
          <p:nvPr/>
        </p:nvGrpSpPr>
        <p:grpSpPr>
          <a:xfrm>
            <a:off x="7542000" y="1479884"/>
            <a:ext cx="3888000" cy="4860000"/>
            <a:chOff x="7493668" y="1479885"/>
            <a:chExt cx="3888000" cy="4860000"/>
          </a:xfrm>
        </p:grpSpPr>
        <p:sp>
          <p:nvSpPr>
            <p:cNvPr id="136" name="Google Shape;136;p6"/>
            <p:cNvSpPr/>
            <p:nvPr/>
          </p:nvSpPr>
          <p:spPr>
            <a:xfrm>
              <a:off x="7493668" y="1479885"/>
              <a:ext cx="3888000" cy="486000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" name="Google Shape;137;p6"/>
            <p:cNvSpPr/>
            <p:nvPr/>
          </p:nvSpPr>
          <p:spPr>
            <a:xfrm>
              <a:off x="7493668" y="1965885"/>
              <a:ext cx="3888000" cy="3888000"/>
            </a:xfrm>
            <a:prstGeom prst="rect">
              <a:avLst/>
            </a:prstGeom>
            <a:solidFill>
              <a:srgbClr val="FFF2CC">
                <a:alpha val="30196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8" name="Google Shape;138;p6"/>
          <p:cNvSpPr txBox="1"/>
          <p:nvPr/>
        </p:nvSpPr>
        <p:spPr>
          <a:xfrm>
            <a:off x="9268827" y="6398218"/>
            <a:ext cx="83168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8B7E74"/>
                </a:solidFill>
                <a:latin typeface="Arial"/>
                <a:ea typeface="Arial"/>
                <a:cs typeface="Arial"/>
                <a:sym typeface="Arial"/>
              </a:rPr>
              <a:t>1080px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6"/>
          <p:cNvSpPr txBox="1"/>
          <p:nvPr/>
        </p:nvSpPr>
        <p:spPr>
          <a:xfrm>
            <a:off x="11430000" y="3699309"/>
            <a:ext cx="83168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8B7E74"/>
                </a:solidFill>
                <a:latin typeface="Arial"/>
                <a:ea typeface="Arial"/>
                <a:cs typeface="Arial"/>
                <a:sym typeface="Arial"/>
              </a:rPr>
              <a:t>1350px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0" name="Google Shape;140;p6" title="20260527_100943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90350" y="1479869"/>
            <a:ext cx="4710374" cy="35327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8"/>
          <p:cNvSpPr/>
          <p:nvPr/>
        </p:nvSpPr>
        <p:spPr>
          <a:xfrm>
            <a:off x="457200" y="3546909"/>
            <a:ext cx="6533147" cy="2792975"/>
          </a:xfrm>
          <a:prstGeom prst="rect">
            <a:avLst/>
          </a:prstGeom>
          <a:solidFill>
            <a:srgbClr val="F8F5F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8"/>
          <p:cNvSpPr/>
          <p:nvPr/>
        </p:nvSpPr>
        <p:spPr>
          <a:xfrm>
            <a:off x="457200" y="457200"/>
            <a:ext cx="137160" cy="365760"/>
          </a:xfrm>
          <a:prstGeom prst="rect">
            <a:avLst/>
          </a:prstGeom>
          <a:solidFill>
            <a:srgbClr val="B850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8"/>
          <p:cNvSpPr/>
          <p:nvPr/>
        </p:nvSpPr>
        <p:spPr>
          <a:xfrm>
            <a:off x="731520" y="45720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B85042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8"/>
          <p:cNvSpPr/>
          <p:nvPr/>
        </p:nvSpPr>
        <p:spPr>
          <a:xfrm>
            <a:off x="457200" y="914400"/>
            <a:ext cx="10972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3200"/>
              <a:buFont typeface="Arial"/>
              <a:buNone/>
            </a:pPr>
            <a:r>
              <a:rPr b="1" lang="en-US" sz="3200">
                <a:solidFill>
                  <a:srgbClr val="2D2D2D"/>
                </a:solidFill>
              </a:rPr>
              <a:t>G밸리 산업 박물관</a:t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8"/>
          <p:cNvSpPr/>
          <p:nvPr/>
        </p:nvSpPr>
        <p:spPr>
          <a:xfrm>
            <a:off x="609600" y="3699309"/>
            <a:ext cx="4710363" cy="1457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8B7E74"/>
                </a:solidFill>
              </a:rPr>
              <a:t>넷마블 바로 옆이라 이동 편리 / 이용료 무료</a:t>
            </a:r>
            <a:endParaRPr b="1" sz="1600">
              <a:solidFill>
                <a:srgbClr val="8B7E74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8B7E74"/>
                </a:solidFill>
              </a:rPr>
              <a:t>구로공단 역사를 알수 있어 나름 재밌음.</a:t>
            </a:r>
            <a:endParaRPr b="1" sz="1600">
              <a:solidFill>
                <a:srgbClr val="8B7E74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8B7E74"/>
                </a:solidFill>
              </a:rPr>
              <a:t>게다가 vr까지 공짜 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8"/>
          <p:cNvSpPr/>
          <p:nvPr/>
        </p:nvSpPr>
        <p:spPr>
          <a:xfrm>
            <a:off x="609600" y="1889760"/>
            <a:ext cx="4710363" cy="1457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8B7E74"/>
                </a:solidFill>
                <a:latin typeface="Arial"/>
                <a:ea typeface="Arial"/>
                <a:cs typeface="Arial"/>
                <a:sym typeface="Arial"/>
              </a:rPr>
              <a:t>레퍼런스 or 추후 개발 및 홍보 배포 관련 메모</a:t>
            </a:r>
            <a:br>
              <a:rPr lang="en-US" sz="1600">
                <a:solidFill>
                  <a:srgbClr val="8B7E74"/>
                </a:solidFill>
                <a:latin typeface="Arial"/>
                <a:ea typeface="Arial"/>
                <a:cs typeface="Arial"/>
                <a:sym typeface="Arial"/>
              </a:rPr>
            </a:br>
            <a:endParaRPr sz="1600">
              <a:solidFill>
                <a:srgbClr val="8B7E7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8B7E74"/>
              </a:buClr>
              <a:buSzPts val="1600"/>
              <a:buFont typeface="Noto Sans Symbols"/>
              <a:buChar char="▪"/>
            </a:pPr>
            <a:r>
              <a:rPr lang="en-US" sz="1600">
                <a:solidFill>
                  <a:srgbClr val="8B7E74"/>
                </a:solidFill>
                <a:latin typeface="Arial"/>
                <a:ea typeface="Arial"/>
                <a:cs typeface="Arial"/>
                <a:sym typeface="Arial"/>
              </a:rPr>
              <a:t>메모 1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8B7E74"/>
              </a:buClr>
              <a:buSzPts val="1600"/>
              <a:buFont typeface="Noto Sans Symbols"/>
              <a:buChar char="▪"/>
            </a:pPr>
            <a:r>
              <a:rPr lang="en-US" sz="1600">
                <a:solidFill>
                  <a:srgbClr val="8B7E74"/>
                </a:solidFill>
                <a:latin typeface="Arial"/>
                <a:ea typeface="Arial"/>
                <a:cs typeface="Arial"/>
                <a:sym typeface="Arial"/>
              </a:rPr>
              <a:t>메모 2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8B7E74"/>
              </a:buClr>
              <a:buSzPts val="1600"/>
              <a:buFont typeface="Noto Sans Symbols"/>
              <a:buChar char="▪"/>
            </a:pPr>
            <a:r>
              <a:rPr lang="en-US" sz="1600">
                <a:solidFill>
                  <a:srgbClr val="8B7E74"/>
                </a:solidFill>
                <a:latin typeface="Arial"/>
                <a:ea typeface="Arial"/>
                <a:cs typeface="Arial"/>
                <a:sym typeface="Arial"/>
              </a:rPr>
              <a:t>메모 3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2" name="Google Shape;152;p8"/>
          <p:cNvGrpSpPr/>
          <p:nvPr/>
        </p:nvGrpSpPr>
        <p:grpSpPr>
          <a:xfrm>
            <a:off x="7542000" y="1423196"/>
            <a:ext cx="3888000" cy="4860000"/>
            <a:chOff x="7493668" y="1479885"/>
            <a:chExt cx="3888000" cy="4860000"/>
          </a:xfrm>
        </p:grpSpPr>
        <p:sp>
          <p:nvSpPr>
            <p:cNvPr id="153" name="Google Shape;153;p8"/>
            <p:cNvSpPr/>
            <p:nvPr/>
          </p:nvSpPr>
          <p:spPr>
            <a:xfrm>
              <a:off x="7493668" y="1479885"/>
              <a:ext cx="3888000" cy="486000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" name="Google Shape;154;p8"/>
            <p:cNvSpPr/>
            <p:nvPr/>
          </p:nvSpPr>
          <p:spPr>
            <a:xfrm>
              <a:off x="7493668" y="1965885"/>
              <a:ext cx="3888000" cy="3888000"/>
            </a:xfrm>
            <a:prstGeom prst="rect">
              <a:avLst/>
            </a:prstGeom>
            <a:solidFill>
              <a:srgbClr val="FFF2CC">
                <a:alpha val="30196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5" name="Google Shape;155;p8"/>
          <p:cNvSpPr txBox="1"/>
          <p:nvPr/>
        </p:nvSpPr>
        <p:spPr>
          <a:xfrm>
            <a:off x="9268827" y="6398218"/>
            <a:ext cx="83168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8B7E74"/>
                </a:solidFill>
                <a:latin typeface="Arial"/>
                <a:ea typeface="Arial"/>
                <a:cs typeface="Arial"/>
                <a:sym typeface="Arial"/>
              </a:rPr>
              <a:t>1080px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8"/>
          <p:cNvSpPr txBox="1"/>
          <p:nvPr/>
        </p:nvSpPr>
        <p:spPr>
          <a:xfrm>
            <a:off x="11430000" y="3699309"/>
            <a:ext cx="83168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8B7E74"/>
                </a:solidFill>
                <a:latin typeface="Arial"/>
                <a:ea typeface="Arial"/>
                <a:cs typeface="Arial"/>
                <a:sym typeface="Arial"/>
              </a:rPr>
              <a:t>1350px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7" name="Google Shape;157;p8" title="20260527_104659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42000" y="302225"/>
            <a:ext cx="4572000" cy="609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9"/>
          <p:cNvSpPr/>
          <p:nvPr/>
        </p:nvSpPr>
        <p:spPr>
          <a:xfrm>
            <a:off x="457200" y="3546909"/>
            <a:ext cx="6533147" cy="2792975"/>
          </a:xfrm>
          <a:prstGeom prst="rect">
            <a:avLst/>
          </a:prstGeom>
          <a:solidFill>
            <a:srgbClr val="F8F5F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9"/>
          <p:cNvSpPr/>
          <p:nvPr/>
        </p:nvSpPr>
        <p:spPr>
          <a:xfrm>
            <a:off x="457200" y="457200"/>
            <a:ext cx="137160" cy="365760"/>
          </a:xfrm>
          <a:prstGeom prst="rect">
            <a:avLst/>
          </a:prstGeom>
          <a:solidFill>
            <a:srgbClr val="B850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9"/>
          <p:cNvSpPr/>
          <p:nvPr/>
        </p:nvSpPr>
        <p:spPr>
          <a:xfrm>
            <a:off x="678783" y="396200"/>
            <a:ext cx="4572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B85042"/>
                </a:solidFill>
                <a:latin typeface="Arial"/>
                <a:ea typeface="Arial"/>
                <a:cs typeface="Arial"/>
                <a:sym typeface="Arial"/>
              </a:rPr>
              <a:t>08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9"/>
          <p:cNvSpPr/>
          <p:nvPr/>
        </p:nvSpPr>
        <p:spPr>
          <a:xfrm>
            <a:off x="457200" y="866725"/>
            <a:ext cx="70848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3200"/>
              <a:buFont typeface="Arial"/>
              <a:buNone/>
            </a:pPr>
            <a:r>
              <a:rPr lang="en-US" sz="3200">
                <a:solidFill>
                  <a:schemeClr val="dk1"/>
                </a:solidFill>
              </a:rPr>
              <a:t> 중국같은 남구로 시장</a:t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9"/>
          <p:cNvSpPr/>
          <p:nvPr/>
        </p:nvSpPr>
        <p:spPr>
          <a:xfrm>
            <a:off x="609600" y="3699309"/>
            <a:ext cx="4710363" cy="1457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8B7E7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8B7E74"/>
              </a:buClr>
              <a:buSzPts val="1600"/>
              <a:buFont typeface="Noto Sans Symbols"/>
              <a:buChar char="▪"/>
            </a:pPr>
            <a:r>
              <a:rPr lang="en-US" sz="1600">
                <a:solidFill>
                  <a:srgbClr val="8B7E74"/>
                </a:solidFill>
              </a:rPr>
              <a:t>중국 간판, 중국 본토 음식, 중국 식재료, 중국어 </a:t>
            </a:r>
            <a:endParaRPr sz="1600">
              <a:solidFill>
                <a:srgbClr val="8B7E74"/>
              </a:solidFill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8B7E74"/>
              </a:buClr>
              <a:buSzPts val="1600"/>
              <a:buChar char="▪"/>
            </a:pPr>
            <a:r>
              <a:rPr lang="en-US" sz="1600">
                <a:solidFill>
                  <a:srgbClr val="8B7E74"/>
                </a:solidFill>
              </a:rPr>
              <a:t>색안경없이 보면 중국에 여행온 거 같아요. </a:t>
            </a:r>
            <a:endParaRPr sz="1600">
              <a:solidFill>
                <a:srgbClr val="8B7E74"/>
              </a:solidFill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8B7E74"/>
              </a:buClr>
              <a:buSzPts val="1600"/>
              <a:buChar char="▪"/>
            </a:pPr>
            <a:r>
              <a:rPr lang="en-US" sz="1600">
                <a:solidFill>
                  <a:srgbClr val="8B7E74"/>
                </a:solidFill>
              </a:rPr>
              <a:t>착한 물가는 덤이예요</a:t>
            </a:r>
            <a:endParaRPr sz="1600">
              <a:solidFill>
                <a:srgbClr val="8B7E74"/>
              </a:solidFill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8B7E74"/>
              </a:buClr>
              <a:buSzPts val="1600"/>
              <a:buChar char="▪"/>
            </a:pPr>
            <a:r>
              <a:t/>
            </a:r>
            <a:endParaRPr sz="1600">
              <a:solidFill>
                <a:srgbClr val="8B7E74"/>
              </a:solidFill>
            </a:endParaRPr>
          </a:p>
        </p:txBody>
      </p:sp>
      <p:sp>
        <p:nvSpPr>
          <p:cNvPr id="168" name="Google Shape;168;p9"/>
          <p:cNvSpPr/>
          <p:nvPr/>
        </p:nvSpPr>
        <p:spPr>
          <a:xfrm>
            <a:off x="609600" y="1889760"/>
            <a:ext cx="4710363" cy="1457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8B7E74"/>
                </a:solidFill>
                <a:latin typeface="Arial"/>
                <a:ea typeface="Arial"/>
                <a:cs typeface="Arial"/>
                <a:sym typeface="Arial"/>
              </a:rPr>
              <a:t>레퍼런스 or 추후 개발 및 홍보 배포 관련 메모</a:t>
            </a:r>
            <a:br>
              <a:rPr lang="en-US" sz="1600">
                <a:solidFill>
                  <a:srgbClr val="8B7E74"/>
                </a:solidFill>
                <a:latin typeface="Arial"/>
                <a:ea typeface="Arial"/>
                <a:cs typeface="Arial"/>
                <a:sym typeface="Arial"/>
              </a:rPr>
            </a:br>
            <a:endParaRPr sz="1600">
              <a:solidFill>
                <a:srgbClr val="8B7E7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8B7E74"/>
              </a:buClr>
              <a:buSzPts val="1600"/>
              <a:buFont typeface="Noto Sans Symbols"/>
              <a:buChar char="▪"/>
            </a:pPr>
            <a:r>
              <a:rPr lang="en-US" sz="1600">
                <a:solidFill>
                  <a:srgbClr val="8B7E74"/>
                </a:solidFill>
                <a:latin typeface="Arial"/>
                <a:ea typeface="Arial"/>
                <a:cs typeface="Arial"/>
                <a:sym typeface="Arial"/>
              </a:rPr>
              <a:t>메모 1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8B7E74"/>
              </a:buClr>
              <a:buSzPts val="1600"/>
              <a:buFont typeface="Noto Sans Symbols"/>
              <a:buChar char="▪"/>
            </a:pPr>
            <a:r>
              <a:rPr lang="en-US" sz="1600">
                <a:solidFill>
                  <a:srgbClr val="8B7E74"/>
                </a:solidFill>
                <a:latin typeface="Arial"/>
                <a:ea typeface="Arial"/>
                <a:cs typeface="Arial"/>
                <a:sym typeface="Arial"/>
              </a:rPr>
              <a:t>메모 2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8B7E74"/>
              </a:buClr>
              <a:buSzPts val="1600"/>
              <a:buFont typeface="Noto Sans Symbols"/>
              <a:buChar char="▪"/>
            </a:pPr>
            <a:r>
              <a:rPr lang="en-US" sz="1600">
                <a:solidFill>
                  <a:srgbClr val="8B7E74"/>
                </a:solidFill>
                <a:latin typeface="Arial"/>
                <a:ea typeface="Arial"/>
                <a:cs typeface="Arial"/>
                <a:sym typeface="Arial"/>
              </a:rPr>
              <a:t>메모 3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9" name="Google Shape;169;p9"/>
          <p:cNvGrpSpPr/>
          <p:nvPr/>
        </p:nvGrpSpPr>
        <p:grpSpPr>
          <a:xfrm>
            <a:off x="7542000" y="1479884"/>
            <a:ext cx="3888000" cy="4860000"/>
            <a:chOff x="7493668" y="1479885"/>
            <a:chExt cx="3888000" cy="4860000"/>
          </a:xfrm>
        </p:grpSpPr>
        <p:sp>
          <p:nvSpPr>
            <p:cNvPr id="170" name="Google Shape;170;p9"/>
            <p:cNvSpPr/>
            <p:nvPr/>
          </p:nvSpPr>
          <p:spPr>
            <a:xfrm>
              <a:off x="7493668" y="1479885"/>
              <a:ext cx="3888000" cy="486000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" name="Google Shape;171;p9"/>
            <p:cNvSpPr/>
            <p:nvPr/>
          </p:nvSpPr>
          <p:spPr>
            <a:xfrm>
              <a:off x="7493668" y="1965885"/>
              <a:ext cx="3888000" cy="3888000"/>
            </a:xfrm>
            <a:prstGeom prst="rect">
              <a:avLst/>
            </a:prstGeom>
            <a:solidFill>
              <a:srgbClr val="FFF2CC">
                <a:alpha val="30196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2" name="Google Shape;172;p9"/>
          <p:cNvSpPr txBox="1"/>
          <p:nvPr/>
        </p:nvSpPr>
        <p:spPr>
          <a:xfrm>
            <a:off x="9268827" y="6398218"/>
            <a:ext cx="83168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8B7E74"/>
                </a:solidFill>
                <a:latin typeface="Arial"/>
                <a:ea typeface="Arial"/>
                <a:cs typeface="Arial"/>
                <a:sym typeface="Arial"/>
              </a:rPr>
              <a:t>1080px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9"/>
          <p:cNvSpPr txBox="1"/>
          <p:nvPr/>
        </p:nvSpPr>
        <p:spPr>
          <a:xfrm>
            <a:off x="11430000" y="3699309"/>
            <a:ext cx="83168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8B7E74"/>
                </a:solidFill>
                <a:latin typeface="Arial"/>
                <a:ea typeface="Arial"/>
                <a:cs typeface="Arial"/>
                <a:sym typeface="Arial"/>
              </a:rPr>
              <a:t>1350px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4" name="Google Shape;174;p9" title="20260527_113635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30425" y="761900"/>
            <a:ext cx="4997426" cy="5636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7"/>
          <p:cNvSpPr/>
          <p:nvPr/>
        </p:nvSpPr>
        <p:spPr>
          <a:xfrm>
            <a:off x="457200" y="3546909"/>
            <a:ext cx="6533147" cy="2792975"/>
          </a:xfrm>
          <a:prstGeom prst="rect">
            <a:avLst/>
          </a:prstGeom>
          <a:solidFill>
            <a:srgbClr val="F8F5F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7"/>
          <p:cNvSpPr/>
          <p:nvPr/>
        </p:nvSpPr>
        <p:spPr>
          <a:xfrm>
            <a:off x="457200" y="457200"/>
            <a:ext cx="137160" cy="365760"/>
          </a:xfrm>
          <a:prstGeom prst="rect">
            <a:avLst/>
          </a:prstGeom>
          <a:solidFill>
            <a:srgbClr val="B850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7"/>
          <p:cNvSpPr/>
          <p:nvPr/>
        </p:nvSpPr>
        <p:spPr>
          <a:xfrm>
            <a:off x="731520" y="45720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B85042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7"/>
          <p:cNvSpPr/>
          <p:nvPr/>
        </p:nvSpPr>
        <p:spPr>
          <a:xfrm>
            <a:off x="457200" y="914400"/>
            <a:ext cx="65331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3200"/>
              <a:buFont typeface="Arial"/>
              <a:buNone/>
            </a:pPr>
            <a:r>
              <a:rPr b="1" lang="en-US" sz="3200">
                <a:solidFill>
                  <a:srgbClr val="2D2D2D"/>
                </a:solidFill>
              </a:rPr>
              <a:t>린궁즈멘관</a:t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7"/>
          <p:cNvSpPr/>
          <p:nvPr/>
        </p:nvSpPr>
        <p:spPr>
          <a:xfrm>
            <a:off x="609600" y="3699309"/>
            <a:ext cx="4710363" cy="1457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</a:rPr>
              <a:t>중국 음악, 중국어, 중국어 메뉴판, 독특한 향신료</a:t>
            </a:r>
            <a:endParaRPr sz="16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</a:rPr>
              <a:t>이국적인 곳… 깨끗하고 맛있어요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185" name="Google Shape;185;p7"/>
          <p:cNvSpPr/>
          <p:nvPr/>
        </p:nvSpPr>
        <p:spPr>
          <a:xfrm>
            <a:off x="609600" y="1889760"/>
            <a:ext cx="4710363" cy="1457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8B7E74"/>
                </a:solidFill>
                <a:latin typeface="Arial"/>
                <a:ea typeface="Arial"/>
                <a:cs typeface="Arial"/>
                <a:sym typeface="Arial"/>
              </a:rPr>
              <a:t>레퍼런스 or 추후 개발 및 홍보 배포 관련 메모</a:t>
            </a:r>
            <a:br>
              <a:rPr lang="en-US" sz="1600">
                <a:solidFill>
                  <a:srgbClr val="8B7E74"/>
                </a:solidFill>
                <a:latin typeface="Arial"/>
                <a:ea typeface="Arial"/>
                <a:cs typeface="Arial"/>
                <a:sym typeface="Arial"/>
              </a:rPr>
            </a:br>
            <a:endParaRPr sz="1600">
              <a:solidFill>
                <a:srgbClr val="8B7E7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8B7E74"/>
              </a:buClr>
              <a:buSzPts val="1600"/>
              <a:buFont typeface="Noto Sans Symbols"/>
              <a:buChar char="▪"/>
            </a:pPr>
            <a:r>
              <a:rPr lang="en-US" sz="1600">
                <a:solidFill>
                  <a:srgbClr val="8B7E74"/>
                </a:solidFill>
                <a:latin typeface="Arial"/>
                <a:ea typeface="Arial"/>
                <a:cs typeface="Arial"/>
                <a:sym typeface="Arial"/>
              </a:rPr>
              <a:t>메모 1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8B7E74"/>
              </a:buClr>
              <a:buSzPts val="1600"/>
              <a:buFont typeface="Noto Sans Symbols"/>
              <a:buChar char="▪"/>
            </a:pPr>
            <a:r>
              <a:rPr lang="en-US" sz="1600">
                <a:solidFill>
                  <a:srgbClr val="8B7E74"/>
                </a:solidFill>
                <a:latin typeface="Arial"/>
                <a:ea typeface="Arial"/>
                <a:cs typeface="Arial"/>
                <a:sym typeface="Arial"/>
              </a:rPr>
              <a:t>메모 2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8B7E74"/>
              </a:buClr>
              <a:buSzPts val="1600"/>
              <a:buFont typeface="Noto Sans Symbols"/>
              <a:buChar char="▪"/>
            </a:pPr>
            <a:r>
              <a:rPr lang="en-US" sz="1600">
                <a:solidFill>
                  <a:srgbClr val="8B7E74"/>
                </a:solidFill>
                <a:latin typeface="Arial"/>
                <a:ea typeface="Arial"/>
                <a:cs typeface="Arial"/>
                <a:sym typeface="Arial"/>
              </a:rPr>
              <a:t>메모 3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6" name="Google Shape;186;p7"/>
          <p:cNvGrpSpPr/>
          <p:nvPr/>
        </p:nvGrpSpPr>
        <p:grpSpPr>
          <a:xfrm>
            <a:off x="7542000" y="1479884"/>
            <a:ext cx="3888000" cy="4860000"/>
            <a:chOff x="7493668" y="1479885"/>
            <a:chExt cx="3888000" cy="4860000"/>
          </a:xfrm>
        </p:grpSpPr>
        <p:sp>
          <p:nvSpPr>
            <p:cNvPr id="187" name="Google Shape;187;p7"/>
            <p:cNvSpPr/>
            <p:nvPr/>
          </p:nvSpPr>
          <p:spPr>
            <a:xfrm>
              <a:off x="7493668" y="1479885"/>
              <a:ext cx="3888000" cy="486000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" name="Google Shape;188;p7"/>
            <p:cNvSpPr/>
            <p:nvPr/>
          </p:nvSpPr>
          <p:spPr>
            <a:xfrm>
              <a:off x="7493668" y="1965885"/>
              <a:ext cx="3888000" cy="3888000"/>
            </a:xfrm>
            <a:prstGeom prst="rect">
              <a:avLst/>
            </a:prstGeom>
            <a:solidFill>
              <a:srgbClr val="FFF2CC">
                <a:alpha val="30196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9" name="Google Shape;189;p7"/>
          <p:cNvSpPr txBox="1"/>
          <p:nvPr/>
        </p:nvSpPr>
        <p:spPr>
          <a:xfrm>
            <a:off x="9268827" y="6398218"/>
            <a:ext cx="83168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8B7E74"/>
                </a:solidFill>
                <a:latin typeface="Arial"/>
                <a:ea typeface="Arial"/>
                <a:cs typeface="Arial"/>
                <a:sym typeface="Arial"/>
              </a:rPr>
              <a:t>1080px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7"/>
          <p:cNvSpPr txBox="1"/>
          <p:nvPr/>
        </p:nvSpPr>
        <p:spPr>
          <a:xfrm>
            <a:off x="11718900" y="3622434"/>
            <a:ext cx="831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8B7E74"/>
                </a:solidFill>
                <a:latin typeface="Arial"/>
                <a:ea typeface="Arial"/>
                <a:cs typeface="Arial"/>
                <a:sym typeface="Arial"/>
              </a:rPr>
              <a:t>1350px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1" name="Google Shape;191;p7" title="20260527_112445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22500" y="1021000"/>
            <a:ext cx="4572001" cy="52622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0"/>
          <p:cNvSpPr/>
          <p:nvPr/>
        </p:nvSpPr>
        <p:spPr>
          <a:xfrm>
            <a:off x="457200" y="3546900"/>
            <a:ext cx="5804100" cy="2793000"/>
          </a:xfrm>
          <a:prstGeom prst="rect">
            <a:avLst/>
          </a:prstGeom>
          <a:solidFill>
            <a:srgbClr val="F8F5F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10"/>
          <p:cNvSpPr/>
          <p:nvPr/>
        </p:nvSpPr>
        <p:spPr>
          <a:xfrm>
            <a:off x="457200" y="457200"/>
            <a:ext cx="137160" cy="365760"/>
          </a:xfrm>
          <a:prstGeom prst="rect">
            <a:avLst/>
          </a:prstGeom>
          <a:solidFill>
            <a:srgbClr val="B850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10"/>
          <p:cNvSpPr/>
          <p:nvPr/>
        </p:nvSpPr>
        <p:spPr>
          <a:xfrm>
            <a:off x="731520" y="45720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B85042"/>
                </a:solidFill>
                <a:latin typeface="Arial"/>
                <a:ea typeface="Arial"/>
                <a:cs typeface="Arial"/>
                <a:sym typeface="Arial"/>
              </a:rPr>
              <a:t>09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10"/>
          <p:cNvSpPr/>
          <p:nvPr/>
        </p:nvSpPr>
        <p:spPr>
          <a:xfrm>
            <a:off x="457200" y="914400"/>
            <a:ext cx="61230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3200"/>
              <a:buFont typeface="Arial"/>
              <a:buNone/>
            </a:pPr>
            <a:r>
              <a:rPr b="1" lang="en-US" sz="3200">
                <a:solidFill>
                  <a:srgbClr val="2D2D2D"/>
                </a:solidFill>
              </a:rPr>
              <a:t>베이커리 맛집의 색다른 버전</a:t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10"/>
          <p:cNvSpPr/>
          <p:nvPr/>
        </p:nvSpPr>
        <p:spPr>
          <a:xfrm>
            <a:off x="609600" y="3699309"/>
            <a:ext cx="4710363" cy="1457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600">
                <a:solidFill>
                  <a:srgbClr val="8B7E74"/>
                </a:solidFill>
                <a:latin typeface="Arial"/>
                <a:ea typeface="Arial"/>
                <a:cs typeface="Arial"/>
                <a:sym typeface="Arial"/>
              </a:rPr>
            </a:br>
            <a:endParaRPr sz="1600">
              <a:solidFill>
                <a:srgbClr val="8B7E7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8B7E74"/>
              </a:buClr>
              <a:buSzPts val="1600"/>
              <a:buFont typeface="Noto Sans Symbols"/>
              <a:buChar char="▪"/>
            </a:pPr>
            <a:r>
              <a:rPr lang="en-US" sz="1600">
                <a:solidFill>
                  <a:schemeClr val="dk1"/>
                </a:solidFill>
              </a:rPr>
              <a:t>중국 호떡, 호빵 `어디선가 쿵푸 팬더가 나타날 것 같은 맛집 -선물용으로 딱이예요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10"/>
          <p:cNvSpPr/>
          <p:nvPr/>
        </p:nvSpPr>
        <p:spPr>
          <a:xfrm>
            <a:off x="609600" y="1889760"/>
            <a:ext cx="4710363" cy="1457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8B7E74"/>
                </a:solidFill>
                <a:latin typeface="Arial"/>
                <a:ea typeface="Arial"/>
                <a:cs typeface="Arial"/>
                <a:sym typeface="Arial"/>
              </a:rPr>
              <a:t>레퍼런스 or 추후 개발 및 홍보 배포 관련 메모</a:t>
            </a:r>
            <a:br>
              <a:rPr lang="en-US" sz="1600">
                <a:solidFill>
                  <a:srgbClr val="8B7E74"/>
                </a:solidFill>
                <a:latin typeface="Arial"/>
                <a:ea typeface="Arial"/>
                <a:cs typeface="Arial"/>
                <a:sym typeface="Arial"/>
              </a:rPr>
            </a:br>
            <a:endParaRPr sz="1600">
              <a:solidFill>
                <a:srgbClr val="8B7E7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8B7E74"/>
              </a:buClr>
              <a:buSzPts val="1600"/>
              <a:buFont typeface="Noto Sans Symbols"/>
              <a:buChar char="▪"/>
            </a:pPr>
            <a:r>
              <a:rPr lang="en-US" sz="1600">
                <a:solidFill>
                  <a:srgbClr val="8B7E74"/>
                </a:solidFill>
              </a:rPr>
              <a:t>시장내 다른 매장 소개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8B7E74"/>
              </a:buClr>
              <a:buSzPts val="1600"/>
              <a:buFont typeface="Noto Sans Symbols"/>
              <a:buChar char="▪"/>
            </a:pPr>
            <a:r>
              <a:t/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3" name="Google Shape;203;p10"/>
          <p:cNvGrpSpPr/>
          <p:nvPr/>
        </p:nvGrpSpPr>
        <p:grpSpPr>
          <a:xfrm>
            <a:off x="7542000" y="1479884"/>
            <a:ext cx="3888000" cy="4860000"/>
            <a:chOff x="7493668" y="1479885"/>
            <a:chExt cx="3888000" cy="4860000"/>
          </a:xfrm>
        </p:grpSpPr>
        <p:sp>
          <p:nvSpPr>
            <p:cNvPr id="204" name="Google Shape;204;p10"/>
            <p:cNvSpPr/>
            <p:nvPr/>
          </p:nvSpPr>
          <p:spPr>
            <a:xfrm>
              <a:off x="7493668" y="1479885"/>
              <a:ext cx="3888000" cy="486000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5" name="Google Shape;205;p10"/>
            <p:cNvSpPr/>
            <p:nvPr/>
          </p:nvSpPr>
          <p:spPr>
            <a:xfrm>
              <a:off x="7493668" y="1965885"/>
              <a:ext cx="3888000" cy="3888000"/>
            </a:xfrm>
            <a:prstGeom prst="rect">
              <a:avLst/>
            </a:prstGeom>
            <a:solidFill>
              <a:srgbClr val="FFF2CC">
                <a:alpha val="30196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6" name="Google Shape;206;p10"/>
          <p:cNvSpPr txBox="1"/>
          <p:nvPr/>
        </p:nvSpPr>
        <p:spPr>
          <a:xfrm>
            <a:off x="9268827" y="6398218"/>
            <a:ext cx="83168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8B7E74"/>
                </a:solidFill>
                <a:latin typeface="Arial"/>
                <a:ea typeface="Arial"/>
                <a:cs typeface="Arial"/>
                <a:sym typeface="Arial"/>
              </a:rPr>
              <a:t>1080px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0"/>
          <p:cNvSpPr txBox="1"/>
          <p:nvPr/>
        </p:nvSpPr>
        <p:spPr>
          <a:xfrm>
            <a:off x="11430000" y="3699309"/>
            <a:ext cx="83168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8B7E74"/>
                </a:solidFill>
                <a:latin typeface="Arial"/>
                <a:ea typeface="Arial"/>
                <a:cs typeface="Arial"/>
                <a:sym typeface="Arial"/>
              </a:rPr>
              <a:t>1350px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8" name="Google Shape;208;p10" title="20260527_114157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80325" y="822950"/>
            <a:ext cx="5611674" cy="4580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1"/>
          <p:cNvSpPr/>
          <p:nvPr/>
        </p:nvSpPr>
        <p:spPr>
          <a:xfrm>
            <a:off x="457200" y="457200"/>
            <a:ext cx="137160" cy="365760"/>
          </a:xfrm>
          <a:prstGeom prst="rect">
            <a:avLst/>
          </a:prstGeom>
          <a:solidFill>
            <a:srgbClr val="B850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11"/>
          <p:cNvSpPr/>
          <p:nvPr/>
        </p:nvSpPr>
        <p:spPr>
          <a:xfrm>
            <a:off x="731520" y="45720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B85042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11"/>
          <p:cNvSpPr/>
          <p:nvPr/>
        </p:nvSpPr>
        <p:spPr>
          <a:xfrm>
            <a:off x="457200" y="914400"/>
            <a:ext cx="10972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3200"/>
              <a:buFont typeface="Arial"/>
              <a:buNone/>
            </a:pPr>
            <a:r>
              <a:rPr b="1" lang="en-US" sz="3200">
                <a:solidFill>
                  <a:srgbClr val="2D2D2D"/>
                </a:solidFill>
              </a:rPr>
              <a:t>📊 주요 운영 및 매출 추정 지표 </a:t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11"/>
          <p:cNvSpPr/>
          <p:nvPr/>
        </p:nvSpPr>
        <p:spPr>
          <a:xfrm>
            <a:off x="609600" y="3699309"/>
            <a:ext cx="4710363" cy="1457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8B7E74"/>
                </a:solidFill>
                <a:latin typeface="Arial"/>
                <a:ea typeface="Arial"/>
                <a:cs typeface="Arial"/>
                <a:sym typeface="Arial"/>
              </a:rPr>
              <a:t>카드뉴스 배포 시 함께 넣을 설명 글</a:t>
            </a:r>
            <a:br>
              <a:rPr lang="en-US" sz="1600">
                <a:solidFill>
                  <a:srgbClr val="8B7E74"/>
                </a:solidFill>
                <a:latin typeface="Arial"/>
                <a:ea typeface="Arial"/>
                <a:cs typeface="Arial"/>
                <a:sym typeface="Arial"/>
              </a:rPr>
            </a:br>
            <a:endParaRPr sz="1600">
              <a:solidFill>
                <a:srgbClr val="8B7E7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8B7E74"/>
                </a:solidFill>
                <a:latin typeface="Arial"/>
                <a:ea typeface="Arial"/>
                <a:cs typeface="Arial"/>
                <a:sym typeface="Arial"/>
              </a:rPr>
              <a:t>~~~~~~~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11"/>
          <p:cNvSpPr txBox="1"/>
          <p:nvPr/>
        </p:nvSpPr>
        <p:spPr>
          <a:xfrm>
            <a:off x="9268827" y="6398218"/>
            <a:ext cx="83168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8B7E74"/>
                </a:solidFill>
                <a:latin typeface="Arial"/>
                <a:ea typeface="Arial"/>
                <a:cs typeface="Arial"/>
                <a:sym typeface="Arial"/>
              </a:rPr>
              <a:t>1080px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9" name="Google Shape;219;p11" title="캡처1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5950" y="1737338"/>
            <a:ext cx="11040075" cy="4920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eb8211296a_1_13"/>
          <p:cNvSpPr/>
          <p:nvPr/>
        </p:nvSpPr>
        <p:spPr>
          <a:xfrm>
            <a:off x="457200" y="3546900"/>
            <a:ext cx="5804100" cy="2793000"/>
          </a:xfrm>
          <a:prstGeom prst="rect">
            <a:avLst/>
          </a:prstGeom>
          <a:solidFill>
            <a:srgbClr val="F8F5F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g3eb8211296a_1_13"/>
          <p:cNvSpPr/>
          <p:nvPr/>
        </p:nvSpPr>
        <p:spPr>
          <a:xfrm>
            <a:off x="457200" y="457200"/>
            <a:ext cx="137100" cy="365700"/>
          </a:xfrm>
          <a:prstGeom prst="rect">
            <a:avLst/>
          </a:prstGeom>
          <a:solidFill>
            <a:srgbClr val="B850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g3eb8211296a_1_13"/>
          <p:cNvSpPr/>
          <p:nvPr/>
        </p:nvSpPr>
        <p:spPr>
          <a:xfrm>
            <a:off x="731520" y="457200"/>
            <a:ext cx="4572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B85042"/>
                </a:solidFill>
                <a:latin typeface="Arial"/>
                <a:ea typeface="Arial"/>
                <a:cs typeface="Arial"/>
                <a:sym typeface="Arial"/>
              </a:rPr>
              <a:t>09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g3eb8211296a_1_13"/>
          <p:cNvSpPr/>
          <p:nvPr/>
        </p:nvSpPr>
        <p:spPr>
          <a:xfrm>
            <a:off x="457200" y="914400"/>
            <a:ext cx="6123000" cy="121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3200"/>
              <a:buFont typeface="Arial"/>
              <a:buNone/>
            </a:pPr>
            <a:r>
              <a:rPr b="1" lang="en-US" sz="3200">
                <a:solidFill>
                  <a:srgbClr val="2D2D2D"/>
                </a:solidFill>
              </a:rPr>
              <a:t>비추천 - 향신료가 강한 음식이 낯선분</a:t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g3eb8211296a_1_13"/>
          <p:cNvSpPr/>
          <p:nvPr/>
        </p:nvSpPr>
        <p:spPr>
          <a:xfrm>
            <a:off x="609600" y="3699309"/>
            <a:ext cx="4710300" cy="145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600">
                <a:solidFill>
                  <a:srgbClr val="8B7E74"/>
                </a:solidFill>
                <a:latin typeface="Arial"/>
                <a:ea typeface="Arial"/>
                <a:cs typeface="Arial"/>
                <a:sym typeface="Arial"/>
              </a:rPr>
            </a:br>
            <a:endParaRPr sz="1600">
              <a:solidFill>
                <a:srgbClr val="8B7E7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</a:rPr>
              <a:t>혹은 어린아이가 있어 모험이 두려우신 가족단위 방문객들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g3eb8211296a_1_13"/>
          <p:cNvSpPr/>
          <p:nvPr/>
        </p:nvSpPr>
        <p:spPr>
          <a:xfrm>
            <a:off x="609600" y="1889760"/>
            <a:ext cx="4710300" cy="145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8B7E74"/>
                </a:solidFill>
                <a:latin typeface="Arial"/>
                <a:ea typeface="Arial"/>
                <a:cs typeface="Arial"/>
                <a:sym typeface="Arial"/>
              </a:rPr>
              <a:t>레퍼런스 or 추후 개발 및 홍보 배포 관련 메모</a:t>
            </a:r>
            <a:endParaRPr/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31" name="Google Shape;231;g3eb8211296a_1_13"/>
          <p:cNvGrpSpPr/>
          <p:nvPr/>
        </p:nvGrpSpPr>
        <p:grpSpPr>
          <a:xfrm>
            <a:off x="7542000" y="1479884"/>
            <a:ext cx="3888000" cy="4860000"/>
            <a:chOff x="7493668" y="1479885"/>
            <a:chExt cx="3888000" cy="4860000"/>
          </a:xfrm>
        </p:grpSpPr>
        <p:sp>
          <p:nvSpPr>
            <p:cNvPr id="232" name="Google Shape;232;g3eb8211296a_1_13"/>
            <p:cNvSpPr/>
            <p:nvPr/>
          </p:nvSpPr>
          <p:spPr>
            <a:xfrm>
              <a:off x="7493668" y="1479885"/>
              <a:ext cx="3888000" cy="486000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3" name="Google Shape;233;g3eb8211296a_1_13"/>
            <p:cNvSpPr/>
            <p:nvPr/>
          </p:nvSpPr>
          <p:spPr>
            <a:xfrm>
              <a:off x="7493668" y="1965885"/>
              <a:ext cx="3888000" cy="3888000"/>
            </a:xfrm>
            <a:prstGeom prst="rect">
              <a:avLst/>
            </a:prstGeom>
            <a:solidFill>
              <a:srgbClr val="FFF2CC">
                <a:alpha val="30199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4" name="Google Shape;234;g3eb8211296a_1_13"/>
          <p:cNvSpPr txBox="1"/>
          <p:nvPr/>
        </p:nvSpPr>
        <p:spPr>
          <a:xfrm>
            <a:off x="9268827" y="6398218"/>
            <a:ext cx="831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8B7E74"/>
                </a:solidFill>
                <a:latin typeface="Arial"/>
                <a:ea typeface="Arial"/>
                <a:cs typeface="Arial"/>
                <a:sym typeface="Arial"/>
              </a:rPr>
              <a:t>1080px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g3eb8211296a_1_13"/>
          <p:cNvSpPr txBox="1"/>
          <p:nvPr/>
        </p:nvSpPr>
        <p:spPr>
          <a:xfrm>
            <a:off x="11430000" y="3699309"/>
            <a:ext cx="831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8B7E74"/>
                </a:solidFill>
                <a:latin typeface="Arial"/>
                <a:ea typeface="Arial"/>
                <a:cs typeface="Arial"/>
                <a:sym typeface="Arial"/>
              </a:rPr>
              <a:t>1350px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6" name="Google Shape;236;g3eb8211296a_1_13" title="20260527_112050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6399774" y="436700"/>
            <a:ext cx="5274202" cy="5673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eb8211296a_1_30"/>
          <p:cNvSpPr/>
          <p:nvPr/>
        </p:nvSpPr>
        <p:spPr>
          <a:xfrm>
            <a:off x="457200" y="3546900"/>
            <a:ext cx="5804100" cy="2793000"/>
          </a:xfrm>
          <a:prstGeom prst="rect">
            <a:avLst/>
          </a:prstGeom>
          <a:solidFill>
            <a:srgbClr val="F8F5F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g3eb8211296a_1_30"/>
          <p:cNvSpPr/>
          <p:nvPr/>
        </p:nvSpPr>
        <p:spPr>
          <a:xfrm>
            <a:off x="457200" y="457200"/>
            <a:ext cx="137100" cy="365700"/>
          </a:xfrm>
          <a:prstGeom prst="rect">
            <a:avLst/>
          </a:prstGeom>
          <a:solidFill>
            <a:srgbClr val="B8504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g3eb8211296a_1_30"/>
          <p:cNvSpPr/>
          <p:nvPr/>
        </p:nvSpPr>
        <p:spPr>
          <a:xfrm>
            <a:off x="731520" y="457200"/>
            <a:ext cx="4572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B85042"/>
                </a:solidFill>
                <a:latin typeface="Arial"/>
                <a:ea typeface="Arial"/>
                <a:cs typeface="Arial"/>
                <a:sym typeface="Arial"/>
              </a:rPr>
              <a:t>09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g3eb8211296a_1_30"/>
          <p:cNvSpPr/>
          <p:nvPr/>
        </p:nvSpPr>
        <p:spPr>
          <a:xfrm>
            <a:off x="457200" y="914400"/>
            <a:ext cx="61230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3200"/>
              <a:buFont typeface="Arial"/>
              <a:buNone/>
            </a:pPr>
            <a:r>
              <a:rPr b="1" lang="en-US" sz="3200">
                <a:solidFill>
                  <a:srgbClr val="2D2D2D"/>
                </a:solidFill>
              </a:rPr>
              <a:t>코스 저장하고 도장찍으면 사은품 </a:t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g3eb8211296a_1_30"/>
          <p:cNvSpPr/>
          <p:nvPr/>
        </p:nvSpPr>
        <p:spPr>
          <a:xfrm>
            <a:off x="609600" y="3699309"/>
            <a:ext cx="4710300" cy="145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8B7E74"/>
                </a:solidFill>
              </a:rPr>
              <a:t>댓글에 코스라고 치신분들께 코스 링크 보내드리고 거기에 코스 사진 올려주시면 빵집에서 중국 호떡 하나 드려요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g3eb8211296a_1_30"/>
          <p:cNvSpPr/>
          <p:nvPr/>
        </p:nvSpPr>
        <p:spPr>
          <a:xfrm>
            <a:off x="609600" y="1889760"/>
            <a:ext cx="4710300" cy="145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8B7E74"/>
                </a:solidFill>
                <a:latin typeface="Arial"/>
                <a:ea typeface="Arial"/>
                <a:cs typeface="Arial"/>
                <a:sym typeface="Arial"/>
              </a:rPr>
              <a:t>레퍼런스 or 추후 개발 및 홍보 배포 관련 메모</a:t>
            </a:r>
            <a:br>
              <a:rPr lang="en-US" sz="1600">
                <a:solidFill>
                  <a:srgbClr val="8B7E74"/>
                </a:solidFill>
                <a:latin typeface="Arial"/>
                <a:ea typeface="Arial"/>
                <a:cs typeface="Arial"/>
                <a:sym typeface="Arial"/>
              </a:rPr>
            </a:br>
            <a:endParaRPr sz="1600">
              <a:solidFill>
                <a:srgbClr val="8B7E7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8B7E74"/>
              </a:buClr>
              <a:buSzPts val="1600"/>
              <a:buFont typeface="Noto Sans Symbols"/>
              <a:buChar char="▪"/>
            </a:pPr>
            <a:r>
              <a:rPr lang="en-US" sz="1600">
                <a:solidFill>
                  <a:srgbClr val="8B7E74"/>
                </a:solidFill>
              </a:rPr>
              <a:t>시장내 다른 매장 소개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8B7E74"/>
              </a:buClr>
              <a:buSzPts val="1600"/>
              <a:buFont typeface="Noto Sans Symbols"/>
              <a:buChar char="▪"/>
            </a:pPr>
            <a:r>
              <a:t/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48" name="Google Shape;248;g3eb8211296a_1_30"/>
          <p:cNvGrpSpPr/>
          <p:nvPr/>
        </p:nvGrpSpPr>
        <p:grpSpPr>
          <a:xfrm>
            <a:off x="7542000" y="1479884"/>
            <a:ext cx="3888000" cy="4860000"/>
            <a:chOff x="7493668" y="1479885"/>
            <a:chExt cx="3888000" cy="4860000"/>
          </a:xfrm>
        </p:grpSpPr>
        <p:sp>
          <p:nvSpPr>
            <p:cNvPr id="249" name="Google Shape;249;g3eb8211296a_1_30"/>
            <p:cNvSpPr/>
            <p:nvPr/>
          </p:nvSpPr>
          <p:spPr>
            <a:xfrm>
              <a:off x="7493668" y="1479885"/>
              <a:ext cx="3888000" cy="486000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0" name="Google Shape;250;g3eb8211296a_1_30"/>
            <p:cNvSpPr/>
            <p:nvPr/>
          </p:nvSpPr>
          <p:spPr>
            <a:xfrm>
              <a:off x="7493668" y="1965885"/>
              <a:ext cx="3888000" cy="3888000"/>
            </a:xfrm>
            <a:prstGeom prst="rect">
              <a:avLst/>
            </a:prstGeom>
            <a:solidFill>
              <a:srgbClr val="FFF2CC">
                <a:alpha val="30199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1" name="Google Shape;251;g3eb8211296a_1_30"/>
          <p:cNvSpPr txBox="1"/>
          <p:nvPr/>
        </p:nvSpPr>
        <p:spPr>
          <a:xfrm>
            <a:off x="9268827" y="6398218"/>
            <a:ext cx="831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8B7E74"/>
                </a:solidFill>
                <a:latin typeface="Arial"/>
                <a:ea typeface="Arial"/>
                <a:cs typeface="Arial"/>
                <a:sym typeface="Arial"/>
              </a:rPr>
              <a:t>1080px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g3eb8211296a_1_30"/>
          <p:cNvSpPr txBox="1"/>
          <p:nvPr/>
        </p:nvSpPr>
        <p:spPr>
          <a:xfrm>
            <a:off x="11430000" y="3699309"/>
            <a:ext cx="831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8B7E74"/>
                </a:solidFill>
                <a:latin typeface="Arial"/>
                <a:ea typeface="Arial"/>
                <a:cs typeface="Arial"/>
                <a:sym typeface="Arial"/>
              </a:rPr>
              <a:t>1350px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3" name="Google Shape;253;g3eb8211296a_1_30" title="20260527_114157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80325" y="822950"/>
            <a:ext cx="5611674" cy="4580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2026-05-29T05:03:22Z</dcterms:created>
  <dc:creator>PptxGenJS</dc:creator>
</cp:coreProperties>
</file>